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73" r:id="rId5"/>
    <p:sldId id="261" r:id="rId6"/>
    <p:sldId id="265" r:id="rId7"/>
    <p:sldId id="270" r:id="rId8"/>
    <p:sldId id="271" r:id="rId9"/>
    <p:sldId id="272" r:id="rId10"/>
    <p:sldId id="266" r:id="rId11"/>
    <p:sldId id="268" r:id="rId12"/>
    <p:sldId id="267" r:id="rId13"/>
    <p:sldId id="269"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220"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1"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22"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23"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24"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D60251-23E1-4B86-81C2-7A671137C226}"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PlaceHolder 1"/>
          <p:cNvSpPr>
            <a:spLocks noGrp="1" noRot="1" noChangeAspect="1"/>
          </p:cNvSpPr>
          <p:nvPr>
            <p:ph type="sldImg"/>
          </p:nvPr>
        </p:nvSpPr>
        <p:spPr>
          <a:xfrm>
            <a:off x="1374775" y="1336675"/>
            <a:ext cx="4810125" cy="3608388"/>
          </a:xfrm>
          <a:prstGeom prst="rect">
            <a:avLst/>
          </a:prstGeom>
          <a:ln w="0">
            <a:noFill/>
          </a:ln>
        </p:spPr>
      </p:sp>
      <p:sp>
        <p:nvSpPr>
          <p:cNvPr id="250" name="PlaceHolder 2"/>
          <p:cNvSpPr>
            <a:spLocks noGrp="1"/>
          </p:cNvSpPr>
          <p:nvPr>
            <p:ph type="body"/>
          </p:nvPr>
        </p:nvSpPr>
        <p:spPr>
          <a:xfrm>
            <a:off x="755640" y="5145120"/>
            <a:ext cx="6048000" cy="42098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51" name="PlaceHolder 3"/>
          <p:cNvSpPr>
            <a:spLocks noGrp="1"/>
          </p:cNvSpPr>
          <p:nvPr>
            <p:ph type="sldNum" idx="4"/>
          </p:nvPr>
        </p:nvSpPr>
        <p:spPr>
          <a:xfrm>
            <a:off x="4281480" y="10155240"/>
            <a:ext cx="3276360" cy="53604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3807172-DF9D-4D5C-9A0A-DEE7941D288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
        <p:nvSpPr>
          <p:cNvPr id="252" name="PlaceHolder 4"/>
          <p:cNvSpPr>
            <a:spLocks noGrp="1"/>
          </p:cNvSpPr>
          <p:nvPr>
            <p:ph type="ftr" idx="5"/>
          </p:nvPr>
        </p:nvSpPr>
        <p:spPr>
          <a:xfrm>
            <a:off x="0" y="10155240"/>
            <a:ext cx="3276360" cy="536040"/>
          </a:xfrm>
          <a:prstGeom prst="rect">
            <a:avLst/>
          </a:prstGeom>
          <a:noFill/>
          <a:ln w="0">
            <a:noFill/>
          </a:ln>
        </p:spPr>
        <p:txBody>
          <a:bodyPr lIns="91440" tIns="45720" rIns="91440" bIns="45720" anchor="b">
            <a:noAutofit/>
          </a:bodyPr>
          <a:lstStyle>
            <a:lvl1pPr indent="0">
              <a:lnSpc>
                <a:spcPct val="100000"/>
              </a:lnSpc>
              <a:buNone/>
              <a:defRPr lang="en-US" sz="1200" b="0" u="none" strike="noStrike">
                <a:solidFill>
                  <a:srgbClr val="000000"/>
                </a:solidFill>
                <a:effectLst/>
                <a:uFillTx/>
                <a:latin typeface="Times New Roman"/>
              </a:defRPr>
            </a:lvl1pPr>
          </a:lstStyle>
          <a:p>
            <a:pPr indent="0">
              <a:lnSpc>
                <a:spcPct val="100000"/>
              </a:lnSpc>
              <a:buNone/>
            </a:pPr>
            <a:r>
              <a:rPr lang="en-US" sz="1200" b="0" u="none" strike="noStrike">
                <a:solidFill>
                  <a:srgbClr val="000000"/>
                </a:solidFill>
                <a:effectLst/>
                <a:uFillTx/>
                <a:latin typeface="Times New Roman"/>
              </a:rPr>
              <a:t>Name of the faculty [Group: G00] [Sem:2nd]</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 name="Group 3"/>
          <p:cNvGrpSpPr/>
          <p:nvPr/>
        </p:nvGrpSpPr>
        <p:grpSpPr>
          <a:xfrm>
            <a:off x="6146640" y="0"/>
            <a:ext cx="2996640" cy="875520"/>
            <a:chOff x="6146640" y="0"/>
            <a:chExt cx="2996640" cy="875520"/>
          </a:xfrm>
        </p:grpSpPr>
        <p:sp>
          <p:nvSpPr>
            <p:cNvPr id="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 name="Picture 9" descr="LOGO.gif"/>
            <p:cNvPicPr/>
            <p:nvPr/>
          </p:nvPicPr>
          <p:blipFill>
            <a:blip r:embed="rId2"/>
            <a:srcRect b="10729"/>
            <a:stretch/>
          </p:blipFill>
          <p:spPr>
            <a:xfrm>
              <a:off x="6553080" y="228600"/>
              <a:ext cx="2056680" cy="634320"/>
            </a:xfrm>
            <a:prstGeom prst="rect">
              <a:avLst/>
            </a:prstGeom>
            <a:noFill/>
            <a:ln w="9360">
              <a:noFill/>
            </a:ln>
          </p:spPr>
        </p:pic>
        <p:sp>
          <p:nvSpPr>
            <p:cNvPr id="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 name="Picture 15" descr="logo.jpg"/>
          <p:cNvPicPr/>
          <p:nvPr/>
        </p:nvPicPr>
        <p:blipFill>
          <a:blip r:embed="rId3"/>
          <a:stretch/>
        </p:blipFill>
        <p:spPr>
          <a:xfrm>
            <a:off x="6553080" y="228600"/>
            <a:ext cx="1920240" cy="608760"/>
          </a:xfrm>
          <a:prstGeom prst="rect">
            <a:avLst/>
          </a:prstGeom>
          <a:noFill/>
          <a:ln w="9360">
            <a:noFill/>
          </a:ln>
        </p:spPr>
      </p:pic>
      <p:pic>
        <p:nvPicPr>
          <p:cNvPr id="1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 name="Group 6"/>
          <p:cNvGrpSpPr/>
          <p:nvPr/>
        </p:nvGrpSpPr>
        <p:grpSpPr>
          <a:xfrm>
            <a:off x="6146640" y="0"/>
            <a:ext cx="2996640" cy="875520"/>
            <a:chOff x="6146640" y="0"/>
            <a:chExt cx="2996640" cy="875520"/>
          </a:xfrm>
        </p:grpSpPr>
        <p:sp>
          <p:nvSpPr>
            <p:cNvPr id="1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 name="Picture 9" descr="LOGO.gif"/>
            <p:cNvPicPr/>
            <p:nvPr/>
          </p:nvPicPr>
          <p:blipFill>
            <a:blip r:embed="rId2"/>
            <a:srcRect b="10729"/>
            <a:stretch/>
          </p:blipFill>
          <p:spPr>
            <a:xfrm>
              <a:off x="6553080" y="228600"/>
              <a:ext cx="2056680" cy="634320"/>
            </a:xfrm>
            <a:prstGeom prst="rect">
              <a:avLst/>
            </a:prstGeom>
            <a:noFill/>
            <a:ln w="9360">
              <a:noFill/>
            </a:ln>
          </p:spPr>
        </p:pic>
        <p:sp>
          <p:nvSpPr>
            <p:cNvPr id="1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 name="Picture 15" descr="logo.jpg"/>
          <p:cNvPicPr/>
          <p:nvPr/>
        </p:nvPicPr>
        <p:blipFill>
          <a:blip r:embed="rId3"/>
          <a:stretch/>
        </p:blipFill>
        <p:spPr>
          <a:xfrm>
            <a:off x="6553080" y="228600"/>
            <a:ext cx="1920240" cy="608760"/>
          </a:xfrm>
          <a:prstGeom prst="rect">
            <a:avLst/>
          </a:prstGeom>
          <a:noFill/>
          <a:ln w="9360">
            <a:noFill/>
          </a:ln>
        </p:spPr>
      </p:pic>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18"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1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3" name="Group 3"/>
          <p:cNvGrpSpPr/>
          <p:nvPr/>
        </p:nvGrpSpPr>
        <p:grpSpPr>
          <a:xfrm>
            <a:off x="6146640" y="0"/>
            <a:ext cx="2996640" cy="875520"/>
            <a:chOff x="6146640" y="0"/>
            <a:chExt cx="2996640" cy="875520"/>
          </a:xfrm>
        </p:grpSpPr>
        <p:sp>
          <p:nvSpPr>
            <p:cNvPr id="2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5" name="Picture 9" descr="LOGO.gif"/>
            <p:cNvPicPr/>
            <p:nvPr/>
          </p:nvPicPr>
          <p:blipFill>
            <a:blip r:embed="rId2"/>
            <a:srcRect b="10729"/>
            <a:stretch/>
          </p:blipFill>
          <p:spPr>
            <a:xfrm>
              <a:off x="6553080" y="228600"/>
              <a:ext cx="2056680" cy="634320"/>
            </a:xfrm>
            <a:prstGeom prst="rect">
              <a:avLst/>
            </a:prstGeom>
            <a:noFill/>
            <a:ln w="9360">
              <a:noFill/>
            </a:ln>
          </p:spPr>
        </p:pic>
        <p:sp>
          <p:nvSpPr>
            <p:cNvPr id="2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7" name="Picture 15" descr="logo.jpg"/>
          <p:cNvPicPr/>
          <p:nvPr/>
        </p:nvPicPr>
        <p:blipFill>
          <a:blip r:embed="rId3"/>
          <a:stretch/>
        </p:blipFill>
        <p:spPr>
          <a:xfrm>
            <a:off x="6553080" y="228600"/>
            <a:ext cx="1920240" cy="608760"/>
          </a:xfrm>
          <a:prstGeom prst="rect">
            <a:avLst/>
          </a:prstGeom>
          <a:noFill/>
          <a:ln w="9360">
            <a:noFill/>
          </a:ln>
        </p:spPr>
      </p:pic>
      <p:pic>
        <p:nvPicPr>
          <p:cNvPr id="2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9" name="Group 6"/>
          <p:cNvGrpSpPr/>
          <p:nvPr/>
        </p:nvGrpSpPr>
        <p:grpSpPr>
          <a:xfrm>
            <a:off x="6146640" y="0"/>
            <a:ext cx="2996640" cy="875520"/>
            <a:chOff x="6146640" y="0"/>
            <a:chExt cx="2996640" cy="875520"/>
          </a:xfrm>
        </p:grpSpPr>
        <p:sp>
          <p:nvSpPr>
            <p:cNvPr id="3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1" name="Picture 9" descr="LOGO.gif"/>
            <p:cNvPicPr/>
            <p:nvPr/>
          </p:nvPicPr>
          <p:blipFill>
            <a:blip r:embed="rId2"/>
            <a:srcRect b="10729"/>
            <a:stretch/>
          </p:blipFill>
          <p:spPr>
            <a:xfrm>
              <a:off x="6553080" y="228600"/>
              <a:ext cx="2056680" cy="634320"/>
            </a:xfrm>
            <a:prstGeom prst="rect">
              <a:avLst/>
            </a:prstGeom>
            <a:noFill/>
            <a:ln w="9360">
              <a:noFill/>
            </a:ln>
          </p:spPr>
        </p:pic>
        <p:sp>
          <p:nvSpPr>
            <p:cNvPr id="3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33" name="Picture 15" descr="logo.jpg"/>
          <p:cNvPicPr/>
          <p:nvPr/>
        </p:nvPicPr>
        <p:blipFill>
          <a:blip r:embed="rId3"/>
          <a:stretch/>
        </p:blipFill>
        <p:spPr>
          <a:xfrm>
            <a:off x="6553080" y="228600"/>
            <a:ext cx="1920240" cy="608760"/>
          </a:xfrm>
          <a:prstGeom prst="rect">
            <a:avLst/>
          </a:prstGeom>
          <a:noFill/>
          <a:ln w="9360">
            <a:noFill/>
          </a:ln>
        </p:spPr>
      </p:pic>
      <p:sp>
        <p:nvSpPr>
          <p:cNvPr id="3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35" name="PlaceHolder 2"/>
          <p:cNvSpPr>
            <a:spLocks noGrp="1"/>
          </p:cNvSpPr>
          <p:nvPr>
            <p:ph type="body"/>
          </p:nvPr>
        </p:nvSpPr>
        <p:spPr>
          <a:xfrm>
            <a:off x="457200" y="160452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36" name="PlaceHolder 3"/>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3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3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4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1" name="Group 3"/>
          <p:cNvGrpSpPr/>
          <p:nvPr/>
        </p:nvGrpSpPr>
        <p:grpSpPr>
          <a:xfrm>
            <a:off x="6146640" y="0"/>
            <a:ext cx="2996640" cy="875520"/>
            <a:chOff x="6146640" y="0"/>
            <a:chExt cx="2996640" cy="875520"/>
          </a:xfrm>
        </p:grpSpPr>
        <p:sp>
          <p:nvSpPr>
            <p:cNvPr id="4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3" name="Picture 9" descr="LOGO.gif"/>
            <p:cNvPicPr/>
            <p:nvPr/>
          </p:nvPicPr>
          <p:blipFill>
            <a:blip r:embed="rId2"/>
            <a:srcRect b="10729"/>
            <a:stretch/>
          </p:blipFill>
          <p:spPr>
            <a:xfrm>
              <a:off x="6553080" y="228600"/>
              <a:ext cx="2056680" cy="634320"/>
            </a:xfrm>
            <a:prstGeom prst="rect">
              <a:avLst/>
            </a:prstGeom>
            <a:noFill/>
            <a:ln w="9360">
              <a:noFill/>
            </a:ln>
          </p:spPr>
        </p:pic>
        <p:sp>
          <p:nvSpPr>
            <p:cNvPr id="4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45" name="Picture 15" descr="logo.jpg"/>
          <p:cNvPicPr/>
          <p:nvPr/>
        </p:nvPicPr>
        <p:blipFill>
          <a:blip r:embed="rId3"/>
          <a:stretch/>
        </p:blipFill>
        <p:spPr>
          <a:xfrm>
            <a:off x="6553080" y="228600"/>
            <a:ext cx="1920240" cy="608760"/>
          </a:xfrm>
          <a:prstGeom prst="rect">
            <a:avLst/>
          </a:prstGeom>
          <a:noFill/>
          <a:ln w="9360">
            <a:noFill/>
          </a:ln>
        </p:spPr>
      </p:pic>
      <p:pic>
        <p:nvPicPr>
          <p:cNvPr id="4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47" name="Group 6"/>
          <p:cNvGrpSpPr/>
          <p:nvPr/>
        </p:nvGrpSpPr>
        <p:grpSpPr>
          <a:xfrm>
            <a:off x="6146640" y="0"/>
            <a:ext cx="2996640" cy="875520"/>
            <a:chOff x="6146640" y="0"/>
            <a:chExt cx="2996640" cy="875520"/>
          </a:xfrm>
        </p:grpSpPr>
        <p:sp>
          <p:nvSpPr>
            <p:cNvPr id="4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49" name="Picture 9" descr="LOGO.gif"/>
            <p:cNvPicPr/>
            <p:nvPr/>
          </p:nvPicPr>
          <p:blipFill>
            <a:blip r:embed="rId2"/>
            <a:srcRect b="10729"/>
            <a:stretch/>
          </p:blipFill>
          <p:spPr>
            <a:xfrm>
              <a:off x="6553080" y="228600"/>
              <a:ext cx="2056680" cy="634320"/>
            </a:xfrm>
            <a:prstGeom prst="rect">
              <a:avLst/>
            </a:prstGeom>
            <a:noFill/>
            <a:ln w="9360">
              <a:noFill/>
            </a:ln>
          </p:spPr>
        </p:pic>
        <p:sp>
          <p:nvSpPr>
            <p:cNvPr id="5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51" name="Picture 15" descr="logo.jpg"/>
          <p:cNvPicPr/>
          <p:nvPr/>
        </p:nvPicPr>
        <p:blipFill>
          <a:blip r:embed="rId3"/>
          <a:stretch/>
        </p:blipFill>
        <p:spPr>
          <a:xfrm>
            <a:off x="6553080" y="228600"/>
            <a:ext cx="1920240" cy="608760"/>
          </a:xfrm>
          <a:prstGeom prst="rect">
            <a:avLst/>
          </a:prstGeom>
          <a:noFill/>
          <a:ln w="9360">
            <a:noFill/>
          </a:ln>
        </p:spPr>
      </p:pic>
      <p:sp>
        <p:nvSpPr>
          <p:cNvPr id="5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53"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4"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5"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56" name="PlaceHolder 5"/>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5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5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6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1" name="Group 3"/>
          <p:cNvGrpSpPr/>
          <p:nvPr/>
        </p:nvGrpSpPr>
        <p:grpSpPr>
          <a:xfrm>
            <a:off x="6146640" y="0"/>
            <a:ext cx="2996640" cy="875520"/>
            <a:chOff x="6146640" y="0"/>
            <a:chExt cx="2996640" cy="875520"/>
          </a:xfrm>
        </p:grpSpPr>
        <p:sp>
          <p:nvSpPr>
            <p:cNvPr id="6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3" name="Picture 9" descr="LOGO.gif"/>
            <p:cNvPicPr/>
            <p:nvPr/>
          </p:nvPicPr>
          <p:blipFill>
            <a:blip r:embed="rId2"/>
            <a:srcRect b="10729"/>
            <a:stretch/>
          </p:blipFill>
          <p:spPr>
            <a:xfrm>
              <a:off x="6553080" y="228600"/>
              <a:ext cx="2056680" cy="634320"/>
            </a:xfrm>
            <a:prstGeom prst="rect">
              <a:avLst/>
            </a:prstGeom>
            <a:noFill/>
            <a:ln w="9360">
              <a:noFill/>
            </a:ln>
          </p:spPr>
        </p:pic>
        <p:sp>
          <p:nvSpPr>
            <p:cNvPr id="6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65" name="Picture 15" descr="logo.jpg"/>
          <p:cNvPicPr/>
          <p:nvPr/>
        </p:nvPicPr>
        <p:blipFill>
          <a:blip r:embed="rId3"/>
          <a:stretch/>
        </p:blipFill>
        <p:spPr>
          <a:xfrm>
            <a:off x="6553080" y="228600"/>
            <a:ext cx="1920240" cy="608760"/>
          </a:xfrm>
          <a:prstGeom prst="rect">
            <a:avLst/>
          </a:prstGeom>
          <a:noFill/>
          <a:ln w="9360">
            <a:noFill/>
          </a:ln>
        </p:spPr>
      </p:pic>
      <p:pic>
        <p:nvPicPr>
          <p:cNvPr id="6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67" name="Group 6"/>
          <p:cNvGrpSpPr/>
          <p:nvPr/>
        </p:nvGrpSpPr>
        <p:grpSpPr>
          <a:xfrm>
            <a:off x="6146640" y="0"/>
            <a:ext cx="2996640" cy="875520"/>
            <a:chOff x="6146640" y="0"/>
            <a:chExt cx="2996640" cy="875520"/>
          </a:xfrm>
        </p:grpSpPr>
        <p:sp>
          <p:nvSpPr>
            <p:cNvPr id="6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69" name="Picture 9" descr="LOGO.gif"/>
            <p:cNvPicPr/>
            <p:nvPr/>
          </p:nvPicPr>
          <p:blipFill>
            <a:blip r:embed="rId2"/>
            <a:srcRect b="10729"/>
            <a:stretch/>
          </p:blipFill>
          <p:spPr>
            <a:xfrm>
              <a:off x="6553080" y="228600"/>
              <a:ext cx="2056680" cy="634320"/>
            </a:xfrm>
            <a:prstGeom prst="rect">
              <a:avLst/>
            </a:prstGeom>
            <a:noFill/>
            <a:ln w="9360">
              <a:noFill/>
            </a:ln>
          </p:spPr>
        </p:pic>
        <p:sp>
          <p:nvSpPr>
            <p:cNvPr id="7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71" name="Picture 15" descr="logo.jpg"/>
          <p:cNvPicPr/>
          <p:nvPr/>
        </p:nvPicPr>
        <p:blipFill>
          <a:blip r:embed="rId3"/>
          <a:stretch/>
        </p:blipFill>
        <p:spPr>
          <a:xfrm>
            <a:off x="6553080" y="228600"/>
            <a:ext cx="1920240" cy="608760"/>
          </a:xfrm>
          <a:prstGeom prst="rect">
            <a:avLst/>
          </a:prstGeom>
          <a:noFill/>
          <a:ln w="9360">
            <a:noFill/>
          </a:ln>
        </p:spPr>
      </p:pic>
      <p:sp>
        <p:nvSpPr>
          <p:cNvPr id="72"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73" name="PlaceHolder 2"/>
          <p:cNvSpPr>
            <a:spLocks noGrp="1"/>
          </p:cNvSpPr>
          <p:nvPr>
            <p:ph type="body"/>
          </p:nvPr>
        </p:nvSpPr>
        <p:spPr>
          <a:xfrm>
            <a:off x="45720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4" name="PlaceHolder 3"/>
          <p:cNvSpPr>
            <a:spLocks noGrp="1"/>
          </p:cNvSpPr>
          <p:nvPr>
            <p:ph type="body"/>
          </p:nvPr>
        </p:nvSpPr>
        <p:spPr>
          <a:xfrm>
            <a:off x="323964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5" name="PlaceHolder 4"/>
          <p:cNvSpPr>
            <a:spLocks noGrp="1"/>
          </p:cNvSpPr>
          <p:nvPr>
            <p:ph type="body"/>
          </p:nvPr>
        </p:nvSpPr>
        <p:spPr>
          <a:xfrm>
            <a:off x="6022080" y="160452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6" name="PlaceHolder 5"/>
          <p:cNvSpPr>
            <a:spLocks noGrp="1"/>
          </p:cNvSpPr>
          <p:nvPr>
            <p:ph type="body"/>
          </p:nvPr>
        </p:nvSpPr>
        <p:spPr>
          <a:xfrm>
            <a:off x="45720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7" name="PlaceHolder 6"/>
          <p:cNvSpPr>
            <a:spLocks noGrp="1"/>
          </p:cNvSpPr>
          <p:nvPr>
            <p:ph type="body"/>
          </p:nvPr>
        </p:nvSpPr>
        <p:spPr>
          <a:xfrm>
            <a:off x="323964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78" name="PlaceHolder 7"/>
          <p:cNvSpPr>
            <a:spLocks noGrp="1"/>
          </p:cNvSpPr>
          <p:nvPr>
            <p:ph type="body"/>
          </p:nvPr>
        </p:nvSpPr>
        <p:spPr>
          <a:xfrm>
            <a:off x="6022080" y="3682080"/>
            <a:ext cx="2649240" cy="1896480"/>
          </a:xfrm>
          <a:prstGeom prst="rect">
            <a:avLst/>
          </a:prstGeom>
          <a:noFill/>
          <a:ln w="0">
            <a:noFill/>
          </a:ln>
        </p:spPr>
        <p:txBody>
          <a:bodyPr lIns="0" tIns="0" rIns="0" bIns="0" anchor="t">
            <a:normAutofit fontScale="25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79"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1"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82"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3" name="Group 3"/>
          <p:cNvGrpSpPr/>
          <p:nvPr/>
        </p:nvGrpSpPr>
        <p:grpSpPr>
          <a:xfrm>
            <a:off x="6146640" y="0"/>
            <a:ext cx="2996640" cy="875520"/>
            <a:chOff x="6146640" y="0"/>
            <a:chExt cx="2996640" cy="875520"/>
          </a:xfrm>
        </p:grpSpPr>
        <p:sp>
          <p:nvSpPr>
            <p:cNvPr id="84"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85" name="Picture 9" descr="LOGO.gif"/>
            <p:cNvPicPr/>
            <p:nvPr/>
          </p:nvPicPr>
          <p:blipFill>
            <a:blip r:embed="rId2"/>
            <a:srcRect b="10729"/>
            <a:stretch/>
          </p:blipFill>
          <p:spPr>
            <a:xfrm>
              <a:off x="6553080" y="228600"/>
              <a:ext cx="2056680" cy="634320"/>
            </a:xfrm>
            <a:prstGeom prst="rect">
              <a:avLst/>
            </a:prstGeom>
            <a:noFill/>
            <a:ln w="9360">
              <a:noFill/>
            </a:ln>
          </p:spPr>
        </p:pic>
        <p:sp>
          <p:nvSpPr>
            <p:cNvPr id="86"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87" name="Picture 15" descr="logo.jpg"/>
          <p:cNvPicPr/>
          <p:nvPr/>
        </p:nvPicPr>
        <p:blipFill>
          <a:blip r:embed="rId3"/>
          <a:stretch/>
        </p:blipFill>
        <p:spPr>
          <a:xfrm>
            <a:off x="6553080" y="228600"/>
            <a:ext cx="1920240" cy="608760"/>
          </a:xfrm>
          <a:prstGeom prst="rect">
            <a:avLst/>
          </a:prstGeom>
          <a:noFill/>
          <a:ln w="9360">
            <a:noFill/>
          </a:ln>
        </p:spPr>
      </p:pic>
      <p:pic>
        <p:nvPicPr>
          <p:cNvPr id="8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89" name="Group 6"/>
          <p:cNvGrpSpPr/>
          <p:nvPr/>
        </p:nvGrpSpPr>
        <p:grpSpPr>
          <a:xfrm>
            <a:off x="6146640" y="0"/>
            <a:ext cx="2996640" cy="875520"/>
            <a:chOff x="6146640" y="0"/>
            <a:chExt cx="2996640" cy="875520"/>
          </a:xfrm>
        </p:grpSpPr>
        <p:sp>
          <p:nvSpPr>
            <p:cNvPr id="90"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1" name="Picture 9" descr="LOGO.gif"/>
            <p:cNvPicPr/>
            <p:nvPr/>
          </p:nvPicPr>
          <p:blipFill>
            <a:blip r:embed="rId2"/>
            <a:srcRect b="10729"/>
            <a:stretch/>
          </p:blipFill>
          <p:spPr>
            <a:xfrm>
              <a:off x="6553080" y="228600"/>
              <a:ext cx="2056680" cy="634320"/>
            </a:xfrm>
            <a:prstGeom prst="rect">
              <a:avLst/>
            </a:prstGeom>
            <a:noFill/>
            <a:ln w="9360">
              <a:noFill/>
            </a:ln>
          </p:spPr>
        </p:pic>
        <p:sp>
          <p:nvSpPr>
            <p:cNvPr id="92"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93" name="Picture 15" descr="logo.jpg"/>
          <p:cNvPicPr/>
          <p:nvPr/>
        </p:nvPicPr>
        <p:blipFill>
          <a:blip r:embed="rId3"/>
          <a:stretch/>
        </p:blipFill>
        <p:spPr>
          <a:xfrm>
            <a:off x="6553080" y="228600"/>
            <a:ext cx="1920240" cy="608760"/>
          </a:xfrm>
          <a:prstGeom prst="rect">
            <a:avLst/>
          </a:prstGeom>
          <a:noFill/>
          <a:ln w="9360">
            <a:noFill/>
          </a:ln>
        </p:spPr>
      </p:pic>
      <p:sp>
        <p:nvSpPr>
          <p:cNvPr id="94"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95"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6"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97"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98"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99" name="Group 3"/>
          <p:cNvGrpSpPr/>
          <p:nvPr/>
        </p:nvGrpSpPr>
        <p:grpSpPr>
          <a:xfrm>
            <a:off x="6146640" y="0"/>
            <a:ext cx="2996640" cy="875520"/>
            <a:chOff x="6146640" y="0"/>
            <a:chExt cx="2996640" cy="875520"/>
          </a:xfrm>
        </p:grpSpPr>
        <p:sp>
          <p:nvSpPr>
            <p:cNvPr id="100"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1" name="Picture 9" descr="LOGO.gif"/>
            <p:cNvPicPr/>
            <p:nvPr/>
          </p:nvPicPr>
          <p:blipFill>
            <a:blip r:embed="rId2"/>
            <a:srcRect b="10729"/>
            <a:stretch/>
          </p:blipFill>
          <p:spPr>
            <a:xfrm>
              <a:off x="6553080" y="228600"/>
              <a:ext cx="2056680" cy="634320"/>
            </a:xfrm>
            <a:prstGeom prst="rect">
              <a:avLst/>
            </a:prstGeom>
            <a:noFill/>
            <a:ln w="9360">
              <a:noFill/>
            </a:ln>
          </p:spPr>
        </p:pic>
        <p:sp>
          <p:nvSpPr>
            <p:cNvPr id="102"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3" name="Picture 15" descr="logo.jpg"/>
          <p:cNvPicPr/>
          <p:nvPr/>
        </p:nvPicPr>
        <p:blipFill>
          <a:blip r:embed="rId3"/>
          <a:stretch/>
        </p:blipFill>
        <p:spPr>
          <a:xfrm>
            <a:off x="6553080" y="228600"/>
            <a:ext cx="1920240" cy="608760"/>
          </a:xfrm>
          <a:prstGeom prst="rect">
            <a:avLst/>
          </a:prstGeom>
          <a:noFill/>
          <a:ln w="9360">
            <a:noFill/>
          </a:ln>
        </p:spPr>
      </p:pic>
      <p:pic>
        <p:nvPicPr>
          <p:cNvPr id="10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05" name="Group 6"/>
          <p:cNvGrpSpPr/>
          <p:nvPr/>
        </p:nvGrpSpPr>
        <p:grpSpPr>
          <a:xfrm>
            <a:off x="6146640" y="0"/>
            <a:ext cx="2996640" cy="875520"/>
            <a:chOff x="6146640" y="0"/>
            <a:chExt cx="2996640" cy="875520"/>
          </a:xfrm>
        </p:grpSpPr>
        <p:sp>
          <p:nvSpPr>
            <p:cNvPr id="106"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07" name="Picture 9" descr="LOGO.gif"/>
            <p:cNvPicPr/>
            <p:nvPr/>
          </p:nvPicPr>
          <p:blipFill>
            <a:blip r:embed="rId2"/>
            <a:srcRect b="10729"/>
            <a:stretch/>
          </p:blipFill>
          <p:spPr>
            <a:xfrm>
              <a:off x="6553080" y="228600"/>
              <a:ext cx="2056680" cy="634320"/>
            </a:xfrm>
            <a:prstGeom prst="rect">
              <a:avLst/>
            </a:prstGeom>
            <a:noFill/>
            <a:ln w="9360">
              <a:noFill/>
            </a:ln>
          </p:spPr>
        </p:pic>
        <p:sp>
          <p:nvSpPr>
            <p:cNvPr id="108"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09" name="Picture 15" descr="logo.jpg"/>
          <p:cNvPicPr/>
          <p:nvPr/>
        </p:nvPicPr>
        <p:blipFill>
          <a:blip r:embed="rId3"/>
          <a:stretch/>
        </p:blipFill>
        <p:spPr>
          <a:xfrm>
            <a:off x="6553080" y="228600"/>
            <a:ext cx="1920240" cy="608760"/>
          </a:xfrm>
          <a:prstGeom prst="rect">
            <a:avLst/>
          </a:prstGeom>
          <a:noFill/>
          <a:ln w="9360">
            <a:noFill/>
          </a:ln>
        </p:spPr>
      </p:pic>
      <p:sp>
        <p:nvSpPr>
          <p:cNvPr id="110"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11" name="PlaceHolder 2"/>
          <p:cNvSpPr>
            <a:spLocks noGrp="1"/>
          </p:cNvSpPr>
          <p:nvPr>
            <p:ph type="body"/>
          </p:nvPr>
        </p:nvSpPr>
        <p:spPr>
          <a:xfrm>
            <a:off x="457200" y="1604520"/>
            <a:ext cx="8228880" cy="397692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11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1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16" name="Group 3"/>
          <p:cNvGrpSpPr/>
          <p:nvPr/>
        </p:nvGrpSpPr>
        <p:grpSpPr>
          <a:xfrm>
            <a:off x="6146640" y="0"/>
            <a:ext cx="2996640" cy="875520"/>
            <a:chOff x="6146640" y="0"/>
            <a:chExt cx="2996640" cy="875520"/>
          </a:xfrm>
        </p:grpSpPr>
        <p:sp>
          <p:nvSpPr>
            <p:cNvPr id="11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18" name="Picture 9" descr="LOGO.gif"/>
            <p:cNvPicPr/>
            <p:nvPr/>
          </p:nvPicPr>
          <p:blipFill>
            <a:blip r:embed="rId2"/>
            <a:srcRect b="10729"/>
            <a:stretch/>
          </p:blipFill>
          <p:spPr>
            <a:xfrm>
              <a:off x="6553080" y="228600"/>
              <a:ext cx="2056680" cy="634320"/>
            </a:xfrm>
            <a:prstGeom prst="rect">
              <a:avLst/>
            </a:prstGeom>
            <a:noFill/>
            <a:ln w="9360">
              <a:noFill/>
            </a:ln>
          </p:spPr>
        </p:pic>
        <p:sp>
          <p:nvSpPr>
            <p:cNvPr id="11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0" name="Picture 15" descr="logo.jpg"/>
          <p:cNvPicPr/>
          <p:nvPr/>
        </p:nvPicPr>
        <p:blipFill>
          <a:blip r:embed="rId3"/>
          <a:stretch/>
        </p:blipFill>
        <p:spPr>
          <a:xfrm>
            <a:off x="6553080" y="228600"/>
            <a:ext cx="1920240" cy="608760"/>
          </a:xfrm>
          <a:prstGeom prst="rect">
            <a:avLst/>
          </a:prstGeom>
          <a:noFill/>
          <a:ln w="9360">
            <a:noFill/>
          </a:ln>
        </p:spPr>
      </p:pic>
      <p:pic>
        <p:nvPicPr>
          <p:cNvPr id="12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22" name="Group 6"/>
          <p:cNvGrpSpPr/>
          <p:nvPr/>
        </p:nvGrpSpPr>
        <p:grpSpPr>
          <a:xfrm>
            <a:off x="6146640" y="0"/>
            <a:ext cx="2996640" cy="875520"/>
            <a:chOff x="6146640" y="0"/>
            <a:chExt cx="2996640" cy="875520"/>
          </a:xfrm>
        </p:grpSpPr>
        <p:sp>
          <p:nvSpPr>
            <p:cNvPr id="12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24" name="Picture 9" descr="LOGO.gif"/>
            <p:cNvPicPr/>
            <p:nvPr/>
          </p:nvPicPr>
          <p:blipFill>
            <a:blip r:embed="rId2"/>
            <a:srcRect b="10729"/>
            <a:stretch/>
          </p:blipFill>
          <p:spPr>
            <a:xfrm>
              <a:off x="6553080" y="228600"/>
              <a:ext cx="2056680" cy="634320"/>
            </a:xfrm>
            <a:prstGeom prst="rect">
              <a:avLst/>
            </a:prstGeom>
            <a:noFill/>
            <a:ln w="9360">
              <a:noFill/>
            </a:ln>
          </p:spPr>
        </p:pic>
        <p:sp>
          <p:nvSpPr>
            <p:cNvPr id="12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26" name="Picture 15" descr="logo.jpg"/>
          <p:cNvPicPr/>
          <p:nvPr/>
        </p:nvPicPr>
        <p:blipFill>
          <a:blip r:embed="rId3"/>
          <a:stretch/>
        </p:blipFill>
        <p:spPr>
          <a:xfrm>
            <a:off x="6553080" y="228600"/>
            <a:ext cx="1920240" cy="608760"/>
          </a:xfrm>
          <a:prstGeom prst="rect">
            <a:avLst/>
          </a:prstGeom>
          <a:noFill/>
          <a:ln w="9360">
            <a:noFill/>
          </a:ln>
        </p:spPr>
      </p:pic>
      <p:sp>
        <p:nvSpPr>
          <p:cNvPr id="12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28"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2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3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34" name="Group 3"/>
          <p:cNvGrpSpPr/>
          <p:nvPr/>
        </p:nvGrpSpPr>
        <p:grpSpPr>
          <a:xfrm>
            <a:off x="6146640" y="0"/>
            <a:ext cx="2996640" cy="875520"/>
            <a:chOff x="6146640" y="0"/>
            <a:chExt cx="2996640" cy="875520"/>
          </a:xfrm>
        </p:grpSpPr>
        <p:sp>
          <p:nvSpPr>
            <p:cNvPr id="13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36" name="Picture 9" descr="LOGO.gif"/>
            <p:cNvPicPr/>
            <p:nvPr/>
          </p:nvPicPr>
          <p:blipFill>
            <a:blip r:embed="rId2"/>
            <a:srcRect b="10729"/>
            <a:stretch/>
          </p:blipFill>
          <p:spPr>
            <a:xfrm>
              <a:off x="6553080" y="228600"/>
              <a:ext cx="2056680" cy="634320"/>
            </a:xfrm>
            <a:prstGeom prst="rect">
              <a:avLst/>
            </a:prstGeom>
            <a:noFill/>
            <a:ln w="9360">
              <a:noFill/>
            </a:ln>
          </p:spPr>
        </p:pic>
        <p:sp>
          <p:nvSpPr>
            <p:cNvPr id="13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38" name="Picture 15" descr="logo.jpg"/>
          <p:cNvPicPr/>
          <p:nvPr/>
        </p:nvPicPr>
        <p:blipFill>
          <a:blip r:embed="rId3"/>
          <a:stretch/>
        </p:blipFill>
        <p:spPr>
          <a:xfrm>
            <a:off x="6553080" y="228600"/>
            <a:ext cx="1920240" cy="608760"/>
          </a:xfrm>
          <a:prstGeom prst="rect">
            <a:avLst/>
          </a:prstGeom>
          <a:noFill/>
          <a:ln w="9360">
            <a:noFill/>
          </a:ln>
        </p:spPr>
      </p:pic>
      <p:pic>
        <p:nvPicPr>
          <p:cNvPr id="13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40" name="Group 6"/>
          <p:cNvGrpSpPr/>
          <p:nvPr/>
        </p:nvGrpSpPr>
        <p:grpSpPr>
          <a:xfrm>
            <a:off x="6146640" y="0"/>
            <a:ext cx="2996640" cy="875520"/>
            <a:chOff x="6146640" y="0"/>
            <a:chExt cx="2996640" cy="875520"/>
          </a:xfrm>
        </p:grpSpPr>
        <p:sp>
          <p:nvSpPr>
            <p:cNvPr id="14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2" name="Picture 9" descr="LOGO.gif"/>
            <p:cNvPicPr/>
            <p:nvPr/>
          </p:nvPicPr>
          <p:blipFill>
            <a:blip r:embed="rId2"/>
            <a:srcRect b="10729"/>
            <a:stretch/>
          </p:blipFill>
          <p:spPr>
            <a:xfrm>
              <a:off x="6553080" y="228600"/>
              <a:ext cx="2056680" cy="634320"/>
            </a:xfrm>
            <a:prstGeom prst="rect">
              <a:avLst/>
            </a:prstGeom>
            <a:noFill/>
            <a:ln w="9360">
              <a:noFill/>
            </a:ln>
          </p:spPr>
        </p:pic>
        <p:sp>
          <p:nvSpPr>
            <p:cNvPr id="14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44" name="Picture 15" descr="logo.jpg"/>
          <p:cNvPicPr/>
          <p:nvPr/>
        </p:nvPicPr>
        <p:blipFill>
          <a:blip r:embed="rId3"/>
          <a:stretch/>
        </p:blipFill>
        <p:spPr>
          <a:xfrm>
            <a:off x="6553080" y="228600"/>
            <a:ext cx="1920240" cy="608760"/>
          </a:xfrm>
          <a:prstGeom prst="rect">
            <a:avLst/>
          </a:prstGeom>
          <a:noFill/>
          <a:ln w="9360">
            <a:noFill/>
          </a:ln>
        </p:spPr>
      </p:pic>
      <p:sp>
        <p:nvSpPr>
          <p:cNvPr id="14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46"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147"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49"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5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1" name="Group 3"/>
          <p:cNvGrpSpPr/>
          <p:nvPr/>
        </p:nvGrpSpPr>
        <p:grpSpPr>
          <a:xfrm>
            <a:off x="6146640" y="0"/>
            <a:ext cx="2996640" cy="875520"/>
            <a:chOff x="6146640" y="0"/>
            <a:chExt cx="2996640" cy="875520"/>
          </a:xfrm>
        </p:grpSpPr>
        <p:sp>
          <p:nvSpPr>
            <p:cNvPr id="152"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3" name="Picture 9" descr="LOGO.gif"/>
            <p:cNvPicPr/>
            <p:nvPr/>
          </p:nvPicPr>
          <p:blipFill>
            <a:blip r:embed="rId2"/>
            <a:srcRect b="10729"/>
            <a:stretch/>
          </p:blipFill>
          <p:spPr>
            <a:xfrm>
              <a:off x="6553080" y="228600"/>
              <a:ext cx="2056680" cy="634320"/>
            </a:xfrm>
            <a:prstGeom prst="rect">
              <a:avLst/>
            </a:prstGeom>
            <a:noFill/>
            <a:ln w="9360">
              <a:noFill/>
            </a:ln>
          </p:spPr>
        </p:pic>
        <p:sp>
          <p:nvSpPr>
            <p:cNvPr id="154"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55" name="Picture 15" descr="logo.jpg"/>
          <p:cNvPicPr/>
          <p:nvPr/>
        </p:nvPicPr>
        <p:blipFill>
          <a:blip r:embed="rId3"/>
          <a:stretch/>
        </p:blipFill>
        <p:spPr>
          <a:xfrm>
            <a:off x="6553080" y="228600"/>
            <a:ext cx="1920240" cy="608760"/>
          </a:xfrm>
          <a:prstGeom prst="rect">
            <a:avLst/>
          </a:prstGeom>
          <a:noFill/>
          <a:ln w="9360">
            <a:noFill/>
          </a:ln>
        </p:spPr>
      </p:pic>
      <p:pic>
        <p:nvPicPr>
          <p:cNvPr id="156"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57" name="Group 6"/>
          <p:cNvGrpSpPr/>
          <p:nvPr/>
        </p:nvGrpSpPr>
        <p:grpSpPr>
          <a:xfrm>
            <a:off x="6146640" y="0"/>
            <a:ext cx="2996640" cy="875520"/>
            <a:chOff x="6146640" y="0"/>
            <a:chExt cx="2996640" cy="875520"/>
          </a:xfrm>
        </p:grpSpPr>
        <p:sp>
          <p:nvSpPr>
            <p:cNvPr id="158"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59" name="Picture 9" descr="LOGO.gif"/>
            <p:cNvPicPr/>
            <p:nvPr/>
          </p:nvPicPr>
          <p:blipFill>
            <a:blip r:embed="rId2"/>
            <a:srcRect b="10729"/>
            <a:stretch/>
          </p:blipFill>
          <p:spPr>
            <a:xfrm>
              <a:off x="6553080" y="228600"/>
              <a:ext cx="2056680" cy="634320"/>
            </a:xfrm>
            <a:prstGeom prst="rect">
              <a:avLst/>
            </a:prstGeom>
            <a:noFill/>
            <a:ln w="9360">
              <a:noFill/>
            </a:ln>
          </p:spPr>
        </p:pic>
        <p:sp>
          <p:nvSpPr>
            <p:cNvPr id="160"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61" name="Picture 15" descr="logo.jpg"/>
          <p:cNvPicPr/>
          <p:nvPr/>
        </p:nvPicPr>
        <p:blipFill>
          <a:blip r:embed="rId3"/>
          <a:stretch/>
        </p:blipFill>
        <p:spPr>
          <a:xfrm>
            <a:off x="6553080" y="228600"/>
            <a:ext cx="1920240" cy="608760"/>
          </a:xfrm>
          <a:prstGeom prst="rect">
            <a:avLst/>
          </a:prstGeom>
          <a:noFill/>
          <a:ln w="936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162"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4"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65"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66" name="Group 3"/>
          <p:cNvGrpSpPr/>
          <p:nvPr/>
        </p:nvGrpSpPr>
        <p:grpSpPr>
          <a:xfrm>
            <a:off x="6146640" y="0"/>
            <a:ext cx="2996640" cy="875520"/>
            <a:chOff x="6146640" y="0"/>
            <a:chExt cx="2996640" cy="875520"/>
          </a:xfrm>
        </p:grpSpPr>
        <p:sp>
          <p:nvSpPr>
            <p:cNvPr id="167"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68" name="Picture 9" descr="LOGO.gif"/>
            <p:cNvPicPr/>
            <p:nvPr/>
          </p:nvPicPr>
          <p:blipFill>
            <a:blip r:embed="rId2"/>
            <a:srcRect b="10729"/>
            <a:stretch/>
          </p:blipFill>
          <p:spPr>
            <a:xfrm>
              <a:off x="6553080" y="228600"/>
              <a:ext cx="2056680" cy="634320"/>
            </a:xfrm>
            <a:prstGeom prst="rect">
              <a:avLst/>
            </a:prstGeom>
            <a:noFill/>
            <a:ln w="9360">
              <a:noFill/>
            </a:ln>
          </p:spPr>
        </p:pic>
        <p:sp>
          <p:nvSpPr>
            <p:cNvPr id="169"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0" name="Picture 15" descr="logo.jpg"/>
          <p:cNvPicPr/>
          <p:nvPr/>
        </p:nvPicPr>
        <p:blipFill>
          <a:blip r:embed="rId3"/>
          <a:stretch/>
        </p:blipFill>
        <p:spPr>
          <a:xfrm>
            <a:off x="6553080" y="228600"/>
            <a:ext cx="1920240" cy="608760"/>
          </a:xfrm>
          <a:prstGeom prst="rect">
            <a:avLst/>
          </a:prstGeom>
          <a:noFill/>
          <a:ln w="9360">
            <a:noFill/>
          </a:ln>
        </p:spPr>
      </p:pic>
      <p:pic>
        <p:nvPicPr>
          <p:cNvPr id="171"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72" name="Group 6"/>
          <p:cNvGrpSpPr/>
          <p:nvPr/>
        </p:nvGrpSpPr>
        <p:grpSpPr>
          <a:xfrm>
            <a:off x="6146640" y="0"/>
            <a:ext cx="2996640" cy="875520"/>
            <a:chOff x="6146640" y="0"/>
            <a:chExt cx="2996640" cy="875520"/>
          </a:xfrm>
        </p:grpSpPr>
        <p:sp>
          <p:nvSpPr>
            <p:cNvPr id="173"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74" name="Picture 9" descr="LOGO.gif"/>
            <p:cNvPicPr/>
            <p:nvPr/>
          </p:nvPicPr>
          <p:blipFill>
            <a:blip r:embed="rId2"/>
            <a:srcRect b="10729"/>
            <a:stretch/>
          </p:blipFill>
          <p:spPr>
            <a:xfrm>
              <a:off x="6553080" y="228600"/>
              <a:ext cx="2056680" cy="634320"/>
            </a:xfrm>
            <a:prstGeom prst="rect">
              <a:avLst/>
            </a:prstGeom>
            <a:noFill/>
            <a:ln w="9360">
              <a:noFill/>
            </a:ln>
          </p:spPr>
        </p:pic>
        <p:sp>
          <p:nvSpPr>
            <p:cNvPr id="175"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76" name="Picture 15" descr="logo.jpg"/>
          <p:cNvPicPr/>
          <p:nvPr/>
        </p:nvPicPr>
        <p:blipFill>
          <a:blip r:embed="rId3"/>
          <a:stretch/>
        </p:blipFill>
        <p:spPr>
          <a:xfrm>
            <a:off x="6553080" y="228600"/>
            <a:ext cx="1920240" cy="608760"/>
          </a:xfrm>
          <a:prstGeom prst="rect">
            <a:avLst/>
          </a:prstGeom>
          <a:noFill/>
          <a:ln w="9360">
            <a:noFill/>
          </a:ln>
        </p:spPr>
      </p:pic>
      <p:sp>
        <p:nvSpPr>
          <p:cNvPr id="177"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78"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79" name="PlaceHolder 3"/>
          <p:cNvSpPr>
            <a:spLocks noGrp="1"/>
          </p:cNvSpPr>
          <p:nvPr>
            <p:ph type="body"/>
          </p:nvPr>
        </p:nvSpPr>
        <p:spPr>
          <a:xfrm>
            <a:off x="467424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80" name="PlaceHolder 4"/>
          <p:cNvSpPr>
            <a:spLocks noGrp="1"/>
          </p:cNvSpPr>
          <p:nvPr>
            <p:ph type="body"/>
          </p:nvPr>
        </p:nvSpPr>
        <p:spPr>
          <a:xfrm>
            <a:off x="45720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181"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2"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3"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184"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85" name="Group 3"/>
          <p:cNvGrpSpPr/>
          <p:nvPr/>
        </p:nvGrpSpPr>
        <p:grpSpPr>
          <a:xfrm>
            <a:off x="6146640" y="0"/>
            <a:ext cx="2996640" cy="875520"/>
            <a:chOff x="6146640" y="0"/>
            <a:chExt cx="2996640" cy="875520"/>
          </a:xfrm>
        </p:grpSpPr>
        <p:sp>
          <p:nvSpPr>
            <p:cNvPr id="186"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87" name="Picture 9" descr="LOGO.gif"/>
            <p:cNvPicPr/>
            <p:nvPr/>
          </p:nvPicPr>
          <p:blipFill>
            <a:blip r:embed="rId2"/>
            <a:srcRect b="10729"/>
            <a:stretch/>
          </p:blipFill>
          <p:spPr>
            <a:xfrm>
              <a:off x="6553080" y="228600"/>
              <a:ext cx="2056680" cy="634320"/>
            </a:xfrm>
            <a:prstGeom prst="rect">
              <a:avLst/>
            </a:prstGeom>
            <a:noFill/>
            <a:ln w="9360">
              <a:noFill/>
            </a:ln>
          </p:spPr>
        </p:pic>
        <p:sp>
          <p:nvSpPr>
            <p:cNvPr id="188"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89" name="Picture 15" descr="logo.jpg"/>
          <p:cNvPicPr/>
          <p:nvPr/>
        </p:nvPicPr>
        <p:blipFill>
          <a:blip r:embed="rId3"/>
          <a:stretch/>
        </p:blipFill>
        <p:spPr>
          <a:xfrm>
            <a:off x="6553080" y="228600"/>
            <a:ext cx="1920240" cy="608760"/>
          </a:xfrm>
          <a:prstGeom prst="rect">
            <a:avLst/>
          </a:prstGeom>
          <a:noFill/>
          <a:ln w="9360">
            <a:noFill/>
          </a:ln>
        </p:spPr>
      </p:pic>
      <p:pic>
        <p:nvPicPr>
          <p:cNvPr id="190"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191" name="Group 6"/>
          <p:cNvGrpSpPr/>
          <p:nvPr/>
        </p:nvGrpSpPr>
        <p:grpSpPr>
          <a:xfrm>
            <a:off x="6146640" y="0"/>
            <a:ext cx="2996640" cy="875520"/>
            <a:chOff x="6146640" y="0"/>
            <a:chExt cx="2996640" cy="875520"/>
          </a:xfrm>
        </p:grpSpPr>
        <p:sp>
          <p:nvSpPr>
            <p:cNvPr id="192"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193" name="Picture 9" descr="LOGO.gif"/>
            <p:cNvPicPr/>
            <p:nvPr/>
          </p:nvPicPr>
          <p:blipFill>
            <a:blip r:embed="rId2"/>
            <a:srcRect b="10729"/>
            <a:stretch/>
          </p:blipFill>
          <p:spPr>
            <a:xfrm>
              <a:off x="6553080" y="228600"/>
              <a:ext cx="2056680" cy="634320"/>
            </a:xfrm>
            <a:prstGeom prst="rect">
              <a:avLst/>
            </a:prstGeom>
            <a:noFill/>
            <a:ln w="9360">
              <a:noFill/>
            </a:ln>
          </p:spPr>
        </p:pic>
        <p:sp>
          <p:nvSpPr>
            <p:cNvPr id="194"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195" name="Picture 15" descr="logo.jpg"/>
          <p:cNvPicPr/>
          <p:nvPr/>
        </p:nvPicPr>
        <p:blipFill>
          <a:blip r:embed="rId3"/>
          <a:stretch/>
        </p:blipFill>
        <p:spPr>
          <a:xfrm>
            <a:off x="6553080" y="228600"/>
            <a:ext cx="1920240" cy="608760"/>
          </a:xfrm>
          <a:prstGeom prst="rect">
            <a:avLst/>
          </a:prstGeom>
          <a:noFill/>
          <a:ln w="9360">
            <a:noFill/>
          </a:ln>
        </p:spPr>
      </p:pic>
      <p:sp>
        <p:nvSpPr>
          <p:cNvPr id="196"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197" name="PlaceHolder 2"/>
          <p:cNvSpPr>
            <a:spLocks noGrp="1"/>
          </p:cNvSpPr>
          <p:nvPr>
            <p:ph type="body"/>
          </p:nvPr>
        </p:nvSpPr>
        <p:spPr>
          <a:xfrm>
            <a:off x="457200" y="1604520"/>
            <a:ext cx="4015440" cy="3976920"/>
          </a:xfrm>
          <a:prstGeom prst="rect">
            <a:avLst/>
          </a:prstGeom>
          <a:noFill/>
          <a:ln w="0">
            <a:noFill/>
          </a:ln>
        </p:spPr>
        <p:txBody>
          <a:bodyPr lIns="0" tIns="0" rIns="0" bIns="0" anchor="t">
            <a:normAutofit fontScale="7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8"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199" name="PlaceHolder 4"/>
          <p:cNvSpPr>
            <a:spLocks noGrp="1"/>
          </p:cNvSpPr>
          <p:nvPr>
            <p:ph type="body"/>
          </p:nvPr>
        </p:nvSpPr>
        <p:spPr>
          <a:xfrm>
            <a:off x="4674240" y="368208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00" name="CustomShape 1"/>
          <p:cNvSpPr/>
          <p:nvPr/>
        </p:nvSpPr>
        <p:spPr>
          <a:xfrm>
            <a:off x="0" y="0"/>
            <a:ext cx="914328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1" name="CustomShape 2"/>
          <p:cNvSpPr/>
          <p:nvPr/>
        </p:nvSpPr>
        <p:spPr>
          <a:xfrm flipV="1">
            <a:off x="0" y="6704640"/>
            <a:ext cx="9143280" cy="197280"/>
          </a:xfrm>
          <a:prstGeom prst="rect">
            <a:avLst/>
          </a:prstGeom>
          <a:solidFill>
            <a:srgbClr val="FF0000"/>
          </a:solidFill>
          <a:ln w="9360">
            <a:noFill/>
          </a:ln>
          <a:scene3d>
            <a:camera prst="orthographicFront"/>
            <a:lightRig rig="threePt" dir="t"/>
          </a:scene3d>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2" name="Picture 10" descr="LOGO.gif"/>
          <p:cNvPicPr/>
          <p:nvPr/>
        </p:nvPicPr>
        <p:blipFill>
          <a:blip r:embed="rId2"/>
          <a:srcRect b="10729"/>
          <a:stretch/>
        </p:blipFill>
        <p:spPr>
          <a:xfrm>
            <a:off x="6553080" y="228600"/>
            <a:ext cx="2056680" cy="634320"/>
          </a:xfrm>
          <a:prstGeom prst="rect">
            <a:avLst/>
          </a:prstGeom>
          <a:noFill/>
          <a:ln w="9360">
            <a:noFill/>
          </a:ln>
        </p:spPr>
      </p:pic>
      <p:pic>
        <p:nvPicPr>
          <p:cNvPr id="203"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04" name="Group 3"/>
          <p:cNvGrpSpPr/>
          <p:nvPr/>
        </p:nvGrpSpPr>
        <p:grpSpPr>
          <a:xfrm>
            <a:off x="6146640" y="0"/>
            <a:ext cx="2996640" cy="875520"/>
            <a:chOff x="6146640" y="0"/>
            <a:chExt cx="2996640" cy="875520"/>
          </a:xfrm>
        </p:grpSpPr>
        <p:sp>
          <p:nvSpPr>
            <p:cNvPr id="205" name="CustomShape 4"/>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06" name="Picture 9" descr="LOGO.gif"/>
            <p:cNvPicPr/>
            <p:nvPr/>
          </p:nvPicPr>
          <p:blipFill>
            <a:blip r:embed="rId2"/>
            <a:srcRect b="10729"/>
            <a:stretch/>
          </p:blipFill>
          <p:spPr>
            <a:xfrm>
              <a:off x="6553080" y="228600"/>
              <a:ext cx="2056680" cy="634320"/>
            </a:xfrm>
            <a:prstGeom prst="rect">
              <a:avLst/>
            </a:prstGeom>
            <a:noFill/>
            <a:ln w="9360">
              <a:noFill/>
            </a:ln>
          </p:spPr>
        </p:pic>
        <p:sp>
          <p:nvSpPr>
            <p:cNvPr id="207" name="CustomShape 5"/>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08" name="Picture 15" descr="logo.jpg"/>
          <p:cNvPicPr/>
          <p:nvPr/>
        </p:nvPicPr>
        <p:blipFill>
          <a:blip r:embed="rId3"/>
          <a:stretch/>
        </p:blipFill>
        <p:spPr>
          <a:xfrm>
            <a:off x="6553080" y="228600"/>
            <a:ext cx="1920240" cy="608760"/>
          </a:xfrm>
          <a:prstGeom prst="rect">
            <a:avLst/>
          </a:prstGeom>
          <a:noFill/>
          <a:ln w="9360">
            <a:noFill/>
          </a:ln>
        </p:spPr>
      </p:pic>
      <p:pic>
        <p:nvPicPr>
          <p:cNvPr id="209" name="Picture 10" descr="LOGO.gif"/>
          <p:cNvPicPr/>
          <p:nvPr/>
        </p:nvPicPr>
        <p:blipFill>
          <a:blip r:embed="rId2"/>
          <a:srcRect b="10729"/>
          <a:stretch/>
        </p:blipFill>
        <p:spPr>
          <a:xfrm>
            <a:off x="6553080" y="228600"/>
            <a:ext cx="2056680" cy="634320"/>
          </a:xfrm>
          <a:prstGeom prst="rect">
            <a:avLst/>
          </a:prstGeom>
          <a:noFill/>
          <a:ln w="9360">
            <a:noFill/>
          </a:ln>
        </p:spPr>
      </p:pic>
      <p:grpSp>
        <p:nvGrpSpPr>
          <p:cNvPr id="210" name="Group 6"/>
          <p:cNvGrpSpPr/>
          <p:nvPr/>
        </p:nvGrpSpPr>
        <p:grpSpPr>
          <a:xfrm>
            <a:off x="6146640" y="0"/>
            <a:ext cx="2996640" cy="875520"/>
            <a:chOff x="6146640" y="0"/>
            <a:chExt cx="2996640" cy="875520"/>
          </a:xfrm>
        </p:grpSpPr>
        <p:sp>
          <p:nvSpPr>
            <p:cNvPr id="211" name="CustomShape 7"/>
            <p:cNvSpPr/>
            <p:nvPr/>
          </p:nvSpPr>
          <p:spPr>
            <a:xfrm>
              <a:off x="6146640" y="0"/>
              <a:ext cx="2996640" cy="83736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pic>
          <p:nvPicPr>
            <p:cNvPr id="212" name="Picture 9" descr="LOGO.gif"/>
            <p:cNvPicPr/>
            <p:nvPr/>
          </p:nvPicPr>
          <p:blipFill>
            <a:blip r:embed="rId2"/>
            <a:srcRect b="10729"/>
            <a:stretch/>
          </p:blipFill>
          <p:spPr>
            <a:xfrm>
              <a:off x="6553080" y="228600"/>
              <a:ext cx="2056680" cy="634320"/>
            </a:xfrm>
            <a:prstGeom prst="rect">
              <a:avLst/>
            </a:prstGeom>
            <a:noFill/>
            <a:ln w="9360">
              <a:noFill/>
            </a:ln>
          </p:spPr>
        </p:pic>
        <p:sp>
          <p:nvSpPr>
            <p:cNvPr id="213" name="CustomShape 8"/>
            <p:cNvSpPr/>
            <p:nvPr/>
          </p:nvSpPr>
          <p:spPr>
            <a:xfrm>
              <a:off x="6527880" y="190440"/>
              <a:ext cx="2075760" cy="685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grpSp>
      <p:pic>
        <p:nvPicPr>
          <p:cNvPr id="214" name="Picture 15" descr="logo.jpg"/>
          <p:cNvPicPr/>
          <p:nvPr/>
        </p:nvPicPr>
        <p:blipFill>
          <a:blip r:embed="rId3"/>
          <a:stretch/>
        </p:blipFill>
        <p:spPr>
          <a:xfrm>
            <a:off x="6553080" y="228600"/>
            <a:ext cx="1920240" cy="608760"/>
          </a:xfrm>
          <a:prstGeom prst="rect">
            <a:avLst/>
          </a:prstGeom>
          <a:noFill/>
          <a:ln w="9360">
            <a:noFill/>
          </a:ln>
        </p:spPr>
      </p:pic>
      <p:sp>
        <p:nvSpPr>
          <p:cNvPr id="215" name="PlaceHolder 1"/>
          <p:cNvSpPr>
            <a:spLocks noGrp="1"/>
          </p:cNvSpPr>
          <p:nvPr>
            <p:ph type="title"/>
          </p:nvPr>
        </p:nvSpPr>
        <p:spPr>
          <a:xfrm>
            <a:off x="0" y="0"/>
            <a:ext cx="5485680" cy="913680"/>
          </a:xfrm>
          <a:prstGeom prst="rect">
            <a:avLst/>
          </a:prstGeom>
          <a:noFill/>
          <a:ln w="0">
            <a:noFill/>
          </a:ln>
        </p:spPr>
        <p:txBody>
          <a:bodyPr lIns="0" tIns="0" rIns="0" bIns="0" anchor="ctr">
            <a:noAutofit/>
          </a:bodyPr>
          <a:lstStyle/>
          <a:p>
            <a:pPr indent="0">
              <a:buNone/>
            </a:pPr>
            <a:r>
              <a:rPr lang="en-US" sz="4400" b="0" u="none" strike="noStrike">
                <a:solidFill>
                  <a:schemeClr val="dk1"/>
                </a:solidFill>
                <a:effectLst/>
                <a:uFillTx/>
                <a:latin typeface="Arial"/>
              </a:rPr>
              <a:t>Click to edit the title text format</a:t>
            </a:r>
          </a:p>
        </p:txBody>
      </p:sp>
      <p:sp>
        <p:nvSpPr>
          <p:cNvPr id="216" name="PlaceHolder 2"/>
          <p:cNvSpPr>
            <a:spLocks noGrp="1"/>
          </p:cNvSpPr>
          <p:nvPr>
            <p:ph type="body"/>
          </p:nvPr>
        </p:nvSpPr>
        <p:spPr>
          <a:xfrm>
            <a:off x="45720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7" name="PlaceHolder 3"/>
          <p:cNvSpPr>
            <a:spLocks noGrp="1"/>
          </p:cNvSpPr>
          <p:nvPr>
            <p:ph type="body"/>
          </p:nvPr>
        </p:nvSpPr>
        <p:spPr>
          <a:xfrm>
            <a:off x="4674240" y="1604520"/>
            <a:ext cx="4015440" cy="1896480"/>
          </a:xfrm>
          <a:prstGeom prst="rect">
            <a:avLst/>
          </a:prstGeom>
          <a:noFill/>
          <a:ln w="0">
            <a:noFill/>
          </a:ln>
        </p:spPr>
        <p:txBody>
          <a:bodyPr lIns="0" tIns="0" rIns="0" bIns="0" anchor="t">
            <a:normAutofit fontScale="475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
        <p:nvSpPr>
          <p:cNvPr id="218" name="PlaceHolder 4"/>
          <p:cNvSpPr>
            <a:spLocks noGrp="1"/>
          </p:cNvSpPr>
          <p:nvPr>
            <p:ph type="body"/>
          </p:nvPr>
        </p:nvSpPr>
        <p:spPr>
          <a:xfrm>
            <a:off x="457200" y="3682080"/>
            <a:ext cx="8228880" cy="1896480"/>
          </a:xfrm>
          <a:prstGeom prst="rect">
            <a:avLst/>
          </a:prstGeom>
          <a:noFill/>
          <a:ln w="0">
            <a:noFill/>
          </a:ln>
        </p:spPr>
        <p:txBody>
          <a:bodyPr lIns="0" tIns="0" rIns="0" bIns="0" anchor="t">
            <a:normAutofit fontScale="70000" lnSpcReduction="19999"/>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rial"/>
              </a:rPr>
              <a:t>Click to edit the outline text format</a:t>
            </a: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Arial"/>
              </a:rPr>
              <a:t>Second Outline Level</a:t>
            </a: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Arial"/>
              </a:rPr>
              <a:t>Third Outline Level</a:t>
            </a: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Arial"/>
              </a:rPr>
              <a:t>Fourth Outline Level</a:t>
            </a: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Fifth Outline Level</a:t>
            </a: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Sixth Outline Level</a:t>
            </a: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expressjs.com/" TargetMode="External"/><Relationship Id="rId7" Type="http://schemas.openxmlformats.org/officeDocument/2006/relationships/hyperlink" Target="https://jwt.io/" TargetMode="External"/><Relationship Id="rId2" Type="http://schemas.openxmlformats.org/officeDocument/2006/relationships/hyperlink" Target="https://nodejs.org/" TargetMode="External"/><Relationship Id="rId1" Type="http://schemas.openxmlformats.org/officeDocument/2006/relationships/slideLayout" Target="../slideLayouts/slideLayout6.xml"/><Relationship Id="rId6" Type="http://schemas.openxmlformats.org/officeDocument/2006/relationships/hyperlink" Target="https://mongoosejs.com/" TargetMode="External"/><Relationship Id="rId5" Type="http://schemas.openxmlformats.org/officeDocument/2006/relationships/hyperlink" Target="https://www.mongodb.com/atlas" TargetMode="External"/><Relationship Id="rId4" Type="http://schemas.openxmlformats.org/officeDocument/2006/relationships/hyperlink" Target="https://ejs.c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TextShape 1"/>
          <p:cNvSpPr/>
          <p:nvPr/>
        </p:nvSpPr>
        <p:spPr>
          <a:xfrm>
            <a:off x="0" y="840600"/>
            <a:ext cx="9143640" cy="601704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spcBef>
                <a:spcPts val="400"/>
              </a:spcBef>
            </a:pPr>
            <a:r>
              <a:rPr lang="en-IN" sz="1800" b="1" u="none" strike="noStrike" dirty="0">
                <a:solidFill>
                  <a:schemeClr val="dk1"/>
                </a:solidFill>
                <a:effectLst/>
                <a:uFillTx/>
                <a:latin typeface="Times New Roman"/>
                <a:ea typeface="Calibri"/>
              </a:rPr>
              <a:t>Project Presentation of COOP</a:t>
            </a:r>
            <a:endParaRPr lang="en-US" sz="1800" b="0" u="none" strike="noStrike" dirty="0">
              <a:solidFill>
                <a:srgbClr val="000000"/>
              </a:solidFill>
              <a:effectLst/>
              <a:uFillTx/>
              <a:latin typeface="Arial"/>
            </a:endParaRPr>
          </a:p>
          <a:p>
            <a:pPr algn="ctr" defTabSz="914400">
              <a:lnSpc>
                <a:spcPct val="100000"/>
              </a:lnSpc>
              <a:spcBef>
                <a:spcPts val="400"/>
              </a:spcBef>
            </a:pPr>
            <a:r>
              <a:rPr lang="en-US" sz="2000" b="0" u="none" strike="noStrike" dirty="0">
                <a:solidFill>
                  <a:schemeClr val="dk1"/>
                </a:solidFill>
                <a:effectLst/>
                <a:uFillTx/>
                <a:latin typeface="Times New Roman"/>
                <a:ea typeface="Calibri"/>
              </a:rPr>
              <a:t>On</a:t>
            </a:r>
            <a:endParaRPr lang="en-US" sz="2000" b="0" u="none" strike="noStrike" dirty="0">
              <a:solidFill>
                <a:srgbClr val="000000"/>
              </a:solidFill>
              <a:effectLst/>
              <a:uFillTx/>
              <a:latin typeface="Arial"/>
            </a:endParaRPr>
          </a:p>
          <a:p>
            <a:pPr algn="ctr" defTabSz="914400">
              <a:lnSpc>
                <a:spcPct val="100000"/>
              </a:lnSpc>
              <a:spcBef>
                <a:spcPts val="400"/>
              </a:spcBef>
            </a:pPr>
            <a:r>
              <a:rPr lang="en-US" sz="4800" dirty="0" err="1">
                <a:solidFill>
                  <a:schemeClr val="dk1"/>
                </a:solidFill>
                <a:latin typeface="Times New Roman"/>
                <a:ea typeface="Calibri"/>
              </a:rPr>
              <a:t>TradeLearn</a:t>
            </a:r>
            <a:endParaRPr lang="en-US" sz="4800" dirty="0">
              <a:solidFill>
                <a:schemeClr val="dk1"/>
              </a:solidFill>
              <a:latin typeface="Times New Roman"/>
              <a:ea typeface="Calibri"/>
            </a:endParaRPr>
          </a:p>
          <a:p>
            <a:pPr algn="ctr" defTabSz="914400">
              <a:lnSpc>
                <a:spcPct val="100000"/>
              </a:lnSpc>
              <a:spcBef>
                <a:spcPts val="400"/>
              </a:spcBef>
            </a:pPr>
            <a:br>
              <a:rPr sz="2000" dirty="0"/>
            </a:br>
            <a:r>
              <a:rPr lang="en-US" sz="2000" dirty="0">
                <a:solidFill>
                  <a:srgbClr val="000000"/>
                </a:solidFill>
                <a:latin typeface="Times New Roman"/>
                <a:ea typeface="MS PGothic"/>
              </a:rPr>
              <a:t>Rajvardhan 2210990710</a:t>
            </a:r>
          </a:p>
          <a:p>
            <a:pPr algn="ctr" defTabSz="914400">
              <a:lnSpc>
                <a:spcPct val="100000"/>
              </a:lnSpc>
              <a:spcBef>
                <a:spcPts val="400"/>
              </a:spcBef>
            </a:pPr>
            <a:r>
              <a:rPr lang="en-US" sz="2000" b="0" u="none" strike="noStrike" dirty="0">
                <a:solidFill>
                  <a:srgbClr val="000000"/>
                </a:solidFill>
                <a:effectLst/>
                <a:uFillTx/>
                <a:latin typeface="Times New Roman"/>
                <a:ea typeface="MS PGothic"/>
              </a:rPr>
              <a:t>Supervised By: </a:t>
            </a:r>
            <a:r>
              <a:rPr lang="en-US" sz="2000" dirty="0">
                <a:solidFill>
                  <a:srgbClr val="000000"/>
                </a:solidFill>
                <a:latin typeface="Times New Roman"/>
                <a:ea typeface="MS PGothic"/>
              </a:rPr>
              <a:t>Dr. </a:t>
            </a:r>
            <a:r>
              <a:rPr lang="en-US" sz="2000">
                <a:solidFill>
                  <a:srgbClr val="000000"/>
                </a:solidFill>
                <a:latin typeface="Times New Roman"/>
                <a:ea typeface="MS PGothic"/>
              </a:rPr>
              <a:t>Ajay Kumar</a:t>
            </a:r>
            <a:endParaRPr lang="en-US" sz="2000" dirty="0">
              <a:solidFill>
                <a:srgbClr val="000000"/>
              </a:solidFill>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Times New Roman"/>
              <a:ea typeface="MS PGothic"/>
            </a:endParaRPr>
          </a:p>
          <a:p>
            <a:pPr algn="ctr" defTabSz="914400">
              <a:lnSpc>
                <a:spcPct val="100000"/>
              </a:lnSpc>
              <a:spcBef>
                <a:spcPts val="400"/>
              </a:spcBef>
            </a:pPr>
            <a:endParaRPr lang="en-US" sz="20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Department of Computer Science and Engineering, </a:t>
            </a:r>
            <a:endParaRPr lang="en-US" sz="2400" b="0" u="none" strike="noStrike" dirty="0">
              <a:solidFill>
                <a:srgbClr val="000000"/>
              </a:solidFill>
              <a:effectLst/>
              <a:uFillTx/>
              <a:latin typeface="Arial"/>
            </a:endParaRPr>
          </a:p>
          <a:p>
            <a:pPr algn="ctr" defTabSz="914400">
              <a:lnSpc>
                <a:spcPct val="100000"/>
              </a:lnSpc>
              <a:spcBef>
                <a:spcPts val="400"/>
              </a:spcBef>
            </a:pPr>
            <a:r>
              <a:rPr lang="en-US" sz="2400" b="0" u="none" strike="noStrike" dirty="0">
                <a:solidFill>
                  <a:schemeClr val="dk1"/>
                </a:solidFill>
                <a:effectLst/>
                <a:uFillTx/>
                <a:latin typeface="Times New Roman"/>
                <a:ea typeface="MS PGothic"/>
              </a:rPr>
              <a:t>Chitkara University, Punjab</a:t>
            </a:r>
            <a:endParaRPr lang="en-US" sz="2400" b="0" u="none" strike="noStrike" dirty="0">
              <a:solidFill>
                <a:srgbClr val="000000"/>
              </a:solidFill>
              <a:effectLst/>
              <a:uFillTx/>
              <a:latin typeface="Arial"/>
            </a:endParaRPr>
          </a:p>
          <a:p>
            <a:pPr algn="ctr" defTabSz="914400">
              <a:lnSpc>
                <a:spcPct val="150000"/>
              </a:lnSpc>
              <a:spcBef>
                <a:spcPts val="400"/>
              </a:spcBef>
            </a:pPr>
            <a:endParaRPr lang="en-US" sz="2000" b="0" u="none" strike="noStrike" dirty="0">
              <a:solidFill>
                <a:srgbClr val="000000"/>
              </a:solidFill>
              <a:effectLst/>
              <a:uFillTx/>
              <a:latin typeface="Arial"/>
            </a:endParaRPr>
          </a:p>
          <a:p>
            <a:pPr defTabSz="914400">
              <a:lnSpc>
                <a:spcPct val="100000"/>
              </a:lnSpc>
              <a:spcBef>
                <a:spcPts val="641"/>
              </a:spcBef>
            </a:pPr>
            <a:endParaRPr lang="en-US" sz="20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p:nvPr/>
        </p:nvSpPr>
        <p:spPr>
          <a:xfrm>
            <a:off x="350640" y="0"/>
            <a:ext cx="6019200" cy="83736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en" b="1" u="none" strike="noStrike" dirty="0">
                <a:solidFill>
                  <a:schemeClr val="dk1"/>
                </a:solidFill>
                <a:effectLst/>
                <a:uFillTx/>
                <a:latin typeface="Times New Roman"/>
                <a:ea typeface="DejaVu Sans"/>
              </a:rPr>
              <a:t>Introduction</a:t>
            </a:r>
            <a:endParaRPr lang="en-US" b="1" u="none" strike="noStrike" dirty="0">
              <a:solidFill>
                <a:srgbClr val="000000"/>
              </a:solidFill>
              <a:effectLst/>
              <a:uFillTx/>
              <a:latin typeface="Arial"/>
            </a:endParaRPr>
          </a:p>
        </p:txBody>
      </p:sp>
      <p:sp>
        <p:nvSpPr>
          <p:cNvPr id="227"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21D82352-9756-476F-A9CF-4775124B2ADF}" type="slidenum">
              <a:rPr lang="en-US" sz="1200" b="1" u="none" strike="noStrike">
                <a:solidFill>
                  <a:srgbClr val="000000"/>
                </a:solidFill>
                <a:effectLst/>
                <a:uFillTx/>
                <a:latin typeface="Calibri"/>
                <a:ea typeface="MS PGothic"/>
              </a:rPr>
              <a:t>2</a:t>
            </a:fld>
            <a:endParaRPr lang="en-US" sz="1200" b="0" u="none" strike="noStrike">
              <a:solidFill>
                <a:srgbClr val="000000"/>
              </a:solidFill>
              <a:effectLst/>
              <a:uFillTx/>
              <a:latin typeface="Arial"/>
            </a:endParaRPr>
          </a:p>
        </p:txBody>
      </p:sp>
      <p:sp>
        <p:nvSpPr>
          <p:cNvPr id="228" name="TextShape 2"/>
          <p:cNvSpPr/>
          <p:nvPr/>
        </p:nvSpPr>
        <p:spPr>
          <a:xfrm>
            <a:off x="164160" y="1109880"/>
            <a:ext cx="8838360" cy="53596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1191"/>
              </a:spcBef>
              <a:spcAft>
                <a:spcPts val="992"/>
              </a:spcAft>
            </a:pPr>
            <a:r>
              <a:rPr lang="en-US" sz="1600" b="1" u="none" strike="noStrike" dirty="0">
                <a:solidFill>
                  <a:srgbClr val="000000"/>
                </a:solidFill>
                <a:effectLst/>
                <a:uFillTx/>
                <a:latin typeface="Times New Roman"/>
                <a:ea typeface="DejaVu Sans"/>
              </a:rPr>
              <a:t>2.1 Background</a:t>
            </a:r>
            <a:endParaRPr lang="en-US" sz="1600" b="0" u="none" strike="noStrike" dirty="0">
              <a:solidFill>
                <a:srgbClr val="000000"/>
              </a:solidFill>
              <a:effectLst/>
              <a:uFillTx/>
              <a:latin typeface="Arial"/>
            </a:endParaRPr>
          </a:p>
          <a:p>
            <a:pPr lvl="1"/>
            <a:r>
              <a:rPr lang="en-US" sz="1600" dirty="0"/>
              <a:t>• Lack of structured skill exchange system</a:t>
            </a:r>
            <a:br>
              <a:rPr lang="en-US" sz="1600" dirty="0"/>
            </a:br>
            <a:r>
              <a:rPr lang="en-US" sz="1600" dirty="0"/>
              <a:t>• Dependence on paid online learning platforms</a:t>
            </a:r>
            <a:br>
              <a:rPr lang="en-US" sz="1600" dirty="0"/>
            </a:br>
            <a:r>
              <a:rPr lang="en-US" sz="1600" dirty="0"/>
              <a:t>• Difficulty in finding suitable learning partners</a:t>
            </a:r>
            <a:br>
              <a:rPr lang="en-US" sz="1600" dirty="0"/>
            </a:br>
            <a:r>
              <a:rPr lang="en-US" sz="1600" dirty="0"/>
              <a:t>• Limited opportunities for peer-to-peer collaboration</a:t>
            </a:r>
            <a:br>
              <a:rPr lang="en-US" sz="1600" dirty="0"/>
            </a:br>
            <a:r>
              <a:rPr lang="en-US" sz="1600" dirty="0"/>
              <a:t>• No proper recognition for teaching contributions</a:t>
            </a:r>
            <a:endParaRPr lang="en-US" sz="1600" b="1" dirty="0">
              <a:solidFill>
                <a:srgbClr val="000000"/>
              </a:solidFill>
              <a:latin typeface="Times New Roman"/>
              <a:ea typeface="DejaVu Sans"/>
            </a:endParaRPr>
          </a:p>
          <a:p>
            <a:endParaRPr lang="en-US" sz="1600" b="1" u="none" strike="noStrike" dirty="0">
              <a:solidFill>
                <a:srgbClr val="000000"/>
              </a:solidFill>
              <a:effectLst/>
              <a:uFillTx/>
              <a:latin typeface="Times New Roman"/>
              <a:ea typeface="DejaVu Sans"/>
            </a:endParaRPr>
          </a:p>
          <a:p>
            <a:endParaRPr lang="en-US" sz="1600" b="1" u="none" strike="noStrike" dirty="0">
              <a:solidFill>
                <a:srgbClr val="000000"/>
              </a:solidFill>
              <a:effectLst/>
              <a:uFillTx/>
              <a:latin typeface="Times New Roman"/>
              <a:ea typeface="DejaVu Sans"/>
            </a:endParaRPr>
          </a:p>
          <a:p>
            <a:r>
              <a:rPr lang="en-US" sz="1600" b="1" u="none" strike="noStrike" dirty="0">
                <a:solidFill>
                  <a:srgbClr val="000000"/>
                </a:solidFill>
                <a:effectLst/>
                <a:uFillTx/>
                <a:latin typeface="Times New Roman"/>
                <a:ea typeface="DejaVu Sans"/>
              </a:rPr>
              <a:t>2.2 Problem Statement</a:t>
            </a:r>
          </a:p>
          <a:p>
            <a:endParaRPr lang="en-US" sz="1600" b="0" u="none" strike="noStrike" dirty="0">
              <a:solidFill>
                <a:srgbClr val="000000"/>
              </a:solidFill>
              <a:effectLst/>
              <a:uFillTx/>
              <a:latin typeface="Arial"/>
            </a:endParaRPr>
          </a:p>
          <a:p>
            <a:pPr lvl="1"/>
            <a:r>
              <a:rPr lang="en-US" sz="1600" dirty="0"/>
              <a:t>• Develop a web-based peer-to-peer skill exchange platform</a:t>
            </a:r>
            <a:br>
              <a:rPr lang="en-US" sz="1600" dirty="0"/>
            </a:br>
            <a:r>
              <a:rPr lang="en-US" sz="1600" dirty="0"/>
              <a:t>• Enable users to teach and learn skills using a credit-based system</a:t>
            </a:r>
            <a:br>
              <a:rPr lang="en-US" sz="1600" dirty="0"/>
            </a:br>
            <a:r>
              <a:rPr lang="en-US" sz="1600" dirty="0"/>
              <a:t>• Allow users to search and discover available skills</a:t>
            </a:r>
            <a:br>
              <a:rPr lang="en-US" sz="1600" dirty="0"/>
            </a:br>
            <a:r>
              <a:rPr lang="en-US" sz="1600" dirty="0"/>
              <a:t>• Implement skill exchange request management</a:t>
            </a:r>
            <a:br>
              <a:rPr lang="en-US" sz="1600" dirty="0"/>
            </a:br>
            <a:r>
              <a:rPr lang="en-US" sz="1600" dirty="0"/>
              <a:t>• Track learning activities and request progress</a:t>
            </a:r>
            <a:br>
              <a:rPr lang="en-US" sz="1600" dirty="0"/>
            </a:br>
            <a:endParaRPr lang="en-US" sz="1600" b="1" u="none" strike="noStrike" dirty="0">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0" y="246960"/>
            <a:ext cx="7680600" cy="585000"/>
          </a:xfrm>
          <a:prstGeom prst="rect">
            <a:avLst/>
          </a:prstGeom>
          <a:noFill/>
          <a:ln w="0">
            <a:noFill/>
          </a:ln>
        </p:spPr>
        <p:txBody>
          <a:bodyPr lIns="0" tIns="0" rIns="0" bIns="0" anchor="ctr">
            <a:noAutofit/>
          </a:bodyPr>
          <a:lstStyle/>
          <a:p>
            <a:pPr indent="0" defTabSz="914400">
              <a:lnSpc>
                <a:spcPct val="90000"/>
              </a:lnSpc>
              <a:buNone/>
            </a:pPr>
            <a:r>
              <a:rPr lang="en-US" sz="1800" b="1" u="none" strike="noStrike" dirty="0">
                <a:solidFill>
                  <a:schemeClr val="dk1"/>
                </a:solidFill>
                <a:effectLst/>
                <a:uFillTx/>
                <a:latin typeface="Arial"/>
                <a:ea typeface="DejaVu Sans"/>
              </a:rPr>
              <a:t> </a:t>
            </a:r>
            <a:r>
              <a:rPr lang="en-US" sz="18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Software and Hardware Requirement Specification</a:t>
            </a:r>
            <a:br>
              <a:rPr sz="1800" dirty="0"/>
            </a:br>
            <a:endParaRPr lang="en-US" sz="1800" b="0" u="none" strike="noStrike" dirty="0">
              <a:solidFill>
                <a:schemeClr val="dk1"/>
              </a:solidFill>
              <a:effectLst/>
              <a:uFillTx/>
              <a:latin typeface="Arial"/>
            </a:endParaRPr>
          </a:p>
        </p:txBody>
      </p:sp>
      <p:sp>
        <p:nvSpPr>
          <p:cNvPr id="230" name="PlaceHolder 2"/>
          <p:cNvSpPr>
            <a:spLocks noGrp="1"/>
          </p:cNvSpPr>
          <p:nvPr>
            <p:ph/>
          </p:nvPr>
        </p:nvSpPr>
        <p:spPr>
          <a:xfrm>
            <a:off x="236160" y="923400"/>
            <a:ext cx="8907840" cy="5687640"/>
          </a:xfrm>
          <a:prstGeom prst="rect">
            <a:avLst/>
          </a:prstGeom>
          <a:noFill/>
          <a:ln w="0">
            <a:noFill/>
          </a:ln>
        </p:spPr>
        <p:txBody>
          <a:bodyPr lIns="0" tIns="0" rIns="0" bIns="0" anchor="t">
            <a:noAutofit/>
          </a:bodyPr>
          <a:lstStyle/>
          <a:p>
            <a:endParaRPr lang="en-IN" sz="1600"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3.1 Methodology :-</a:t>
            </a:r>
          </a:p>
          <a:p>
            <a:pPr algn="just"/>
            <a:endParaRPr lang="en-IN" sz="1600" dirty="0">
              <a:latin typeface="Times New Roman" panose="02020603050405020304" pitchFamily="18" charset="0"/>
              <a:cs typeface="Times New Roman" panose="02020603050405020304" pitchFamily="18" charset="0"/>
            </a:endParaRPr>
          </a:p>
          <a:p>
            <a:r>
              <a:rPr lang="en-US" sz="1600" dirty="0"/>
              <a:t>The development of </a:t>
            </a:r>
            <a:r>
              <a:rPr lang="en-US" sz="1600" dirty="0" err="1"/>
              <a:t>TradeLearn</a:t>
            </a:r>
            <a:r>
              <a:rPr lang="en-US" sz="1600" dirty="0"/>
              <a:t> follows the </a:t>
            </a:r>
            <a:r>
              <a:rPr lang="en-US" sz="1600" b="1" dirty="0"/>
              <a:t>Agile methodology</a:t>
            </a:r>
            <a:r>
              <a:rPr lang="en-US" sz="1600" dirty="0"/>
              <a:t>, focusing on iterative development, testing, and continuous improvement. The application is developed in modular phases including:</a:t>
            </a:r>
          </a:p>
          <a:p>
            <a:r>
              <a:rPr lang="en-IN" sz="1600" dirty="0">
                <a:latin typeface="Times New Roman" panose="02020603050405020304" pitchFamily="18" charset="0"/>
                <a:cs typeface="Times New Roman" panose="02020603050405020304" pitchFamily="18" charset="0"/>
              </a:rPr>
              <a:t>	</a:t>
            </a:r>
            <a:r>
              <a:rPr lang="en-US" sz="1600" dirty="0"/>
              <a:t>User Authentication System</a:t>
            </a:r>
            <a:br>
              <a:rPr lang="en-US" sz="1600" dirty="0"/>
            </a:br>
            <a:r>
              <a:rPr lang="en-US" sz="1600" dirty="0"/>
              <a:t>	Profile &amp; Skill Management</a:t>
            </a:r>
            <a:br>
              <a:rPr lang="en-US" sz="1600" dirty="0"/>
            </a:br>
            <a:r>
              <a:rPr lang="en-US" sz="1600" dirty="0"/>
              <a:t>	Skill Exchange Request System</a:t>
            </a:r>
            <a:br>
              <a:rPr lang="en-US" sz="1600" dirty="0"/>
            </a:br>
            <a:r>
              <a:rPr lang="en-US" sz="1600" dirty="0"/>
              <a:t>	Credit-Based Learning System</a:t>
            </a:r>
            <a:br>
              <a:rPr lang="en-US" sz="1600" dirty="0"/>
            </a:br>
            <a:r>
              <a:rPr lang="en-US" sz="1600" dirty="0"/>
              <a:t>	Dashboard &amp; Activity Tracking</a:t>
            </a:r>
            <a:br>
              <a:rPr lang="en-US" sz="1600" dirty="0"/>
            </a:br>
            <a:r>
              <a:rPr lang="en-US" sz="1600" dirty="0"/>
              <a:t>	Search and Skill Discovery Features</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3.2 Programming / Working Environment</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Frontend:</a:t>
            </a:r>
            <a:r>
              <a:rPr lang="en-IN" sz="1600" dirty="0">
                <a:latin typeface="Times New Roman" panose="02020603050405020304" pitchFamily="18" charset="0"/>
                <a:cs typeface="Times New Roman" panose="02020603050405020304" pitchFamily="18" charset="0"/>
              </a:rPr>
              <a:t> HTML, CSS, EJS</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Backend:</a:t>
            </a:r>
            <a:r>
              <a:rPr lang="en-IN" sz="1600" dirty="0">
                <a:latin typeface="Times New Roman" panose="02020603050405020304" pitchFamily="18" charset="0"/>
                <a:cs typeface="Times New Roman" panose="02020603050405020304" pitchFamily="18" charset="0"/>
              </a:rPr>
              <a:t> Node.js with Express.js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Database:</a:t>
            </a:r>
            <a:r>
              <a:rPr lang="en-IN" sz="1600" dirty="0">
                <a:latin typeface="Times New Roman" panose="02020603050405020304" pitchFamily="18" charset="0"/>
                <a:cs typeface="Times New Roman" panose="02020603050405020304" pitchFamily="18" charset="0"/>
              </a:rPr>
              <a:t> MongoDB Atlas (Cloud Database)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Authentication:</a:t>
            </a:r>
            <a:r>
              <a:rPr lang="en-IN" sz="1600" dirty="0">
                <a:latin typeface="Times New Roman" panose="02020603050405020304" pitchFamily="18" charset="0"/>
                <a:cs typeface="Times New Roman" panose="02020603050405020304" pitchFamily="18" charset="0"/>
              </a:rPr>
              <a:t> JWT + Email OTP Verification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Communication:</a:t>
            </a:r>
            <a:r>
              <a:rPr lang="en-IN" sz="1600" dirty="0">
                <a:latin typeface="Times New Roman" panose="02020603050405020304" pitchFamily="18" charset="0"/>
                <a:cs typeface="Times New Roman" panose="02020603050405020304" pitchFamily="18" charset="0"/>
              </a:rPr>
              <a:t> REST APIs (client-server interaction) </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Architecture:</a:t>
            </a:r>
            <a:r>
              <a:rPr lang="en-IN" sz="1600" dirty="0">
                <a:latin typeface="Times New Roman" panose="02020603050405020304" pitchFamily="18" charset="0"/>
                <a:cs typeface="Times New Roman" panose="02020603050405020304" pitchFamily="18" charset="0"/>
              </a:rPr>
              <a:t> Client-Server Architecture Model</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Version Control:</a:t>
            </a:r>
            <a:r>
              <a:rPr lang="en-IN" sz="1600" dirty="0">
                <a:latin typeface="Times New Roman" panose="02020603050405020304" pitchFamily="18" charset="0"/>
                <a:cs typeface="Times New Roman" panose="02020603050405020304" pitchFamily="18" charset="0"/>
              </a:rPr>
              <a:t> Git &amp; GitHub</a:t>
            </a:r>
          </a:p>
          <a:p>
            <a:pPr marL="342900" indent="-34290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API Testing:</a:t>
            </a:r>
            <a:r>
              <a:rPr lang="en-IN" sz="1600" dirty="0">
                <a:latin typeface="Times New Roman" panose="02020603050405020304" pitchFamily="18" charset="0"/>
                <a:cs typeface="Times New Roman" panose="02020603050405020304" pitchFamily="18" charset="0"/>
              </a:rPr>
              <a:t> Postman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5377F-96D3-E4B4-D814-2A60A6A5857F}"/>
              </a:ext>
            </a:extLst>
          </p:cNvPr>
          <p:cNvSpPr>
            <a:spLocks noGrp="1"/>
          </p:cNvSpPr>
          <p:nvPr>
            <p:ph type="title"/>
          </p:nvPr>
        </p:nvSpPr>
        <p:spPr>
          <a:xfrm>
            <a:off x="173736" y="-82296"/>
            <a:ext cx="6583680" cy="913680"/>
          </a:xfrm>
        </p:spPr>
        <p:txBody>
          <a:bodyPr/>
          <a:lstStyle/>
          <a:p>
            <a:r>
              <a:rPr lang="en-US" sz="1800" b="1" dirty="0">
                <a:solidFill>
                  <a:schemeClr val="dk1"/>
                </a:solidFill>
                <a:latin typeface="Times New Roman" panose="02020603050405020304" pitchFamily="18" charset="0"/>
                <a:cs typeface="Times New Roman" panose="02020603050405020304" pitchFamily="18" charset="0"/>
              </a:rPr>
              <a:t>Software and Hardware Requirement Specification (1/2)</a:t>
            </a:r>
            <a:endParaRPr lang="en-IN" sz="1800" b="1" dirty="0"/>
          </a:p>
        </p:txBody>
      </p:sp>
      <p:sp>
        <p:nvSpPr>
          <p:cNvPr id="3" name="Text Placeholder 2">
            <a:extLst>
              <a:ext uri="{FF2B5EF4-FFF2-40B4-BE49-F238E27FC236}">
                <a16:creationId xmlns:a16="http://schemas.microsoft.com/office/drawing/2014/main" id="{4EF4116B-36AB-F13B-B26F-76C2133CC525}"/>
              </a:ext>
            </a:extLst>
          </p:cNvPr>
          <p:cNvSpPr>
            <a:spLocks noGrp="1"/>
          </p:cNvSpPr>
          <p:nvPr>
            <p:ph type="body"/>
          </p:nvPr>
        </p:nvSpPr>
        <p:spPr>
          <a:xfrm>
            <a:off x="256032" y="1074168"/>
            <a:ext cx="8650224" cy="5372352"/>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3.3 Requirements to Run the Application</a:t>
            </a:r>
            <a:endParaRPr lang="en-IN" sz="20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Hardware Requirements :-</a:t>
            </a:r>
          </a:p>
          <a:p>
            <a:r>
              <a:rPr lang="en-IN" sz="1600" b="1" dirty="0">
                <a:latin typeface="Times New Roman" panose="02020603050405020304" pitchFamily="18" charset="0"/>
                <a:cs typeface="Times New Roman" panose="02020603050405020304" pitchFamily="18" charset="0"/>
              </a:rPr>
              <a:t>Operating System:</a:t>
            </a:r>
            <a:r>
              <a:rPr lang="en-IN" sz="1600" dirty="0">
                <a:latin typeface="Times New Roman" panose="02020603050405020304" pitchFamily="18" charset="0"/>
                <a:cs typeface="Times New Roman" panose="02020603050405020304" pitchFamily="18" charset="0"/>
              </a:rPr>
              <a:t> Windows / Linux / macOS </a:t>
            </a:r>
          </a:p>
          <a:p>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Minimum 8 GB </a:t>
            </a:r>
          </a:p>
          <a:p>
            <a:r>
              <a:rPr lang="en-IN" sz="1600" b="1" dirty="0">
                <a:latin typeface="Times New Roman" panose="02020603050405020304" pitchFamily="18" charset="0"/>
                <a:cs typeface="Times New Roman" panose="02020603050405020304" pitchFamily="18" charset="0"/>
              </a:rPr>
              <a:t>Processor:</a:t>
            </a:r>
            <a:r>
              <a:rPr lang="en-IN" sz="1600" dirty="0">
                <a:latin typeface="Times New Roman" panose="02020603050405020304" pitchFamily="18" charset="0"/>
                <a:cs typeface="Times New Roman" panose="02020603050405020304" pitchFamily="18" charset="0"/>
              </a:rPr>
              <a:t> Intel i5 or equivalent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a:p>
            <a:pPr marL="0" indent="0">
              <a:buNone/>
            </a:pPr>
            <a:r>
              <a:rPr lang="en-IN" sz="1600" b="1" dirty="0">
                <a:latin typeface="Times New Roman" panose="02020603050405020304" pitchFamily="18" charset="0"/>
                <a:cs typeface="Times New Roman" panose="02020603050405020304" pitchFamily="18" charset="0"/>
              </a:rPr>
              <a:t>Software Requirements :-</a:t>
            </a:r>
          </a:p>
          <a:p>
            <a:r>
              <a:rPr lang="en-IN" sz="1600" b="1" dirty="0">
                <a:latin typeface="Times New Roman" panose="02020603050405020304" pitchFamily="18" charset="0"/>
                <a:cs typeface="Times New Roman" panose="02020603050405020304" pitchFamily="18" charset="0"/>
              </a:rPr>
              <a:t>Node.js &amp; </a:t>
            </a:r>
            <a:r>
              <a:rPr lang="en-IN" sz="1600" b="1" dirty="0" err="1">
                <a:latin typeface="Times New Roman" panose="02020603050405020304" pitchFamily="18" charset="0"/>
                <a:cs typeface="Times New Roman" panose="02020603050405020304" pitchFamily="18" charset="0"/>
              </a:rPr>
              <a:t>npm</a:t>
            </a:r>
            <a:r>
              <a:rPr lang="en-IN" sz="1600" dirty="0">
                <a:latin typeface="Times New Roman" panose="02020603050405020304" pitchFamily="18" charset="0"/>
                <a:cs typeface="Times New Roman" panose="02020603050405020304" pitchFamily="18" charset="0"/>
              </a:rPr>
              <a:t> installed </a:t>
            </a:r>
          </a:p>
          <a:p>
            <a:r>
              <a:rPr lang="en-IN" sz="1600" b="1" dirty="0">
                <a:latin typeface="Times New Roman" panose="02020603050405020304" pitchFamily="18" charset="0"/>
                <a:cs typeface="Times New Roman" panose="02020603050405020304" pitchFamily="18" charset="0"/>
              </a:rPr>
              <a:t>MongoDB Atlas</a:t>
            </a:r>
            <a:r>
              <a:rPr lang="en-IN" sz="1600" dirty="0">
                <a:latin typeface="Times New Roman" panose="02020603050405020304" pitchFamily="18" charset="0"/>
                <a:cs typeface="Times New Roman" panose="02020603050405020304" pitchFamily="18" charset="0"/>
              </a:rPr>
              <a:t> configured </a:t>
            </a:r>
          </a:p>
          <a:p>
            <a:r>
              <a:rPr lang="en-IN" sz="1600" b="1" dirty="0">
                <a:latin typeface="Times New Roman" panose="02020603050405020304" pitchFamily="18" charset="0"/>
                <a:cs typeface="Times New Roman" panose="02020603050405020304" pitchFamily="18" charset="0"/>
              </a:rPr>
              <a:t>Email Service (</a:t>
            </a:r>
            <a:r>
              <a:rPr lang="en-IN" sz="1600" b="1" dirty="0" err="1">
                <a:latin typeface="Times New Roman" panose="02020603050405020304" pitchFamily="18" charset="0"/>
                <a:cs typeface="Times New Roman" panose="02020603050405020304" pitchFamily="18" charset="0"/>
              </a:rPr>
              <a:t>Nodemailer</a:t>
            </a:r>
            <a:r>
              <a:rPr lang="en-IN" sz="1600" b="1"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configured for OTP </a:t>
            </a:r>
          </a:p>
          <a:p>
            <a:r>
              <a:rPr lang="en-IN" sz="1600" b="1" dirty="0">
                <a:latin typeface="Times New Roman" panose="02020603050405020304" pitchFamily="18" charset="0"/>
                <a:cs typeface="Times New Roman" panose="02020603050405020304" pitchFamily="18" charset="0"/>
              </a:rPr>
              <a:t>Browser:</a:t>
            </a:r>
            <a:r>
              <a:rPr lang="en-IN" sz="1600" dirty="0">
                <a:latin typeface="Times New Roman" panose="02020603050405020304" pitchFamily="18" charset="0"/>
                <a:cs typeface="Times New Roman" panose="02020603050405020304" pitchFamily="18" charset="0"/>
              </a:rPr>
              <a:t> Latest version of Chrome / Firefox / Safari</a:t>
            </a:r>
          </a:p>
          <a:p>
            <a:endParaRPr lang="en-IN" dirty="0"/>
          </a:p>
        </p:txBody>
      </p:sp>
    </p:spTree>
    <p:extLst>
      <p:ext uri="{BB962C8B-B14F-4D97-AF65-F5344CB8AC3E}">
        <p14:creationId xmlns:p14="http://schemas.microsoft.com/office/powerpoint/2010/main" val="1720500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292608" y="29857"/>
            <a:ext cx="6931440" cy="913680"/>
          </a:xfrm>
          <a:prstGeom prst="rect">
            <a:avLst/>
          </a:prstGeom>
          <a:noFill/>
          <a:ln w="0">
            <a:noFill/>
          </a:ln>
        </p:spPr>
        <p:txBody>
          <a:bodyPr lIns="0" tIns="0" rIns="0" bIns="0" anchor="ctr">
            <a:noAutofit/>
          </a:bodyPr>
          <a:lstStyle/>
          <a:p>
            <a:pPr indent="0" defTabSz="914400">
              <a:lnSpc>
                <a:spcPct val="90000"/>
              </a:lnSpc>
              <a:buNone/>
            </a:pPr>
            <a:r>
              <a:rPr lang="en-US" sz="1800" b="1" u="none" strike="noStrike" dirty="0">
                <a:solidFill>
                  <a:schemeClr val="dk1"/>
                </a:solidFill>
                <a:effectLst/>
                <a:uFillTx/>
                <a:latin typeface="Times New Roman" panose="02020603050405020304" pitchFamily="18" charset="0"/>
                <a:cs typeface="Times New Roman" panose="02020603050405020304" pitchFamily="18" charset="0"/>
              </a:rPr>
              <a:t>   </a:t>
            </a:r>
            <a:r>
              <a:rPr lang="en-US" sz="1800" b="1" dirty="0">
                <a:solidFill>
                  <a:schemeClr val="dk1"/>
                </a:solidFill>
                <a:latin typeface="Times New Roman" panose="02020603050405020304" pitchFamily="18" charset="0"/>
                <a:cs typeface="Times New Roman" panose="02020603050405020304" pitchFamily="18" charset="0"/>
              </a:rPr>
              <a:t>ER Diagram</a:t>
            </a:r>
            <a:endParaRPr lang="en-US" sz="1800" b="1" u="none" strike="noStrike" dirty="0">
              <a:solidFill>
                <a:schemeClr val="dk1"/>
              </a:solidFill>
              <a:effectLst/>
              <a:uFillTx/>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0196CDF-76D1-44E6-61A0-A8B4B04DF89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92608" y="1414272"/>
            <a:ext cx="8851392" cy="50718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265525" y="0"/>
            <a:ext cx="5485680" cy="913680"/>
          </a:xfrm>
          <a:prstGeom prst="rect">
            <a:avLst/>
          </a:prstGeom>
          <a:noFill/>
          <a:ln w="0">
            <a:noFill/>
          </a:ln>
        </p:spPr>
        <p:txBody>
          <a:bodyPr lIns="0" tIns="0" rIns="0" bIns="0" anchor="ctr">
            <a:noAutofit/>
          </a:bodyPr>
          <a:lstStyle/>
          <a:p>
            <a:pPr indent="0" defTabSz="914400">
              <a:lnSpc>
                <a:spcPct val="90000"/>
              </a:lnSpc>
              <a:buNone/>
            </a:pPr>
            <a:r>
              <a:rPr lang="en-US" sz="1800" b="1" strike="noStrike" dirty="0">
                <a:solidFill>
                  <a:schemeClr val="dk1"/>
                </a:solidFill>
                <a:effectLst/>
                <a:uFillTx/>
                <a:latin typeface="Times New Roman"/>
                <a:ea typeface="Calibri"/>
              </a:rPr>
              <a:t>TECHNOLOGIES AND TOOLS</a:t>
            </a:r>
            <a:endParaRPr lang="en-US" sz="1800" b="0" strike="noStrike" dirty="0">
              <a:solidFill>
                <a:schemeClr val="dk1"/>
              </a:solidFill>
              <a:effectLst/>
              <a:uFillTx/>
              <a:latin typeface="Arial"/>
            </a:endParaRPr>
          </a:p>
        </p:txBody>
      </p:sp>
      <p:sp>
        <p:nvSpPr>
          <p:cNvPr id="240" name="TextBox 2"/>
          <p:cNvSpPr/>
          <p:nvPr/>
        </p:nvSpPr>
        <p:spPr>
          <a:xfrm>
            <a:off x="265525" y="1160353"/>
            <a:ext cx="8091720" cy="550774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US" sz="1600" dirty="0" err="1">
                <a:latin typeface="Times New Roman" panose="02020603050405020304" pitchFamily="18" charset="0"/>
                <a:cs typeface="Times New Roman" panose="02020603050405020304" pitchFamily="18" charset="0"/>
              </a:rPr>
              <a:t>TradeLearn</a:t>
            </a:r>
            <a:r>
              <a:rPr lang="en-US" sz="1600" dirty="0">
                <a:latin typeface="Times New Roman" panose="02020603050405020304" pitchFamily="18" charset="0"/>
                <a:cs typeface="Times New Roman" panose="02020603050405020304" pitchFamily="18" charset="0"/>
              </a:rPr>
              <a:t> uses modern technologies to ensure scalability, security, performance, and efficient skill exchange functionality.</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HTML, CSS &amp; EJS:</a:t>
            </a:r>
            <a:r>
              <a:rPr lang="en-US" sz="1600" dirty="0">
                <a:latin typeface="Times New Roman" panose="02020603050405020304" pitchFamily="18" charset="0"/>
                <a:cs typeface="Times New Roman" panose="02020603050405020304" pitchFamily="18" charset="0"/>
              </a:rPr>
              <a:t> Used to build a responsive, dynamic, and user-friendly interface. Enables smooth navigation between user profiles, dashboard, skills, and exchange features.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Node.js &amp; Express.js:</a:t>
            </a:r>
            <a:r>
              <a:rPr lang="en-US" sz="1600" dirty="0">
                <a:latin typeface="Times New Roman" panose="02020603050405020304" pitchFamily="18" charset="0"/>
                <a:cs typeface="Times New Roman" panose="02020603050405020304" pitchFamily="18" charset="0"/>
              </a:rPr>
              <a:t> Provides a scalable server environment to handle APIs, authentication, business logic, and skill exchange operations efficiently.</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MongoDB Atlas:</a:t>
            </a:r>
            <a:r>
              <a:rPr lang="en-US" sz="1600" dirty="0">
                <a:latin typeface="Times New Roman" panose="02020603050405020304" pitchFamily="18" charset="0"/>
                <a:cs typeface="Times New Roman" panose="02020603050405020304" pitchFamily="18" charset="0"/>
              </a:rPr>
              <a:t> Cloud-based NoSQL database used to securely store user data, skills, exchange requests, credit information, and activity records.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JWT Authentication:</a:t>
            </a:r>
            <a:r>
              <a:rPr lang="en-US" sz="1600" dirty="0">
                <a:latin typeface="Times New Roman" panose="02020603050405020304" pitchFamily="18" charset="0"/>
                <a:cs typeface="Times New Roman" panose="02020603050405020304" pitchFamily="18" charset="0"/>
              </a:rPr>
              <a:t> Ensures secure user authentication, session management, and protected route access for account safety and data security.</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REST APIs:</a:t>
            </a:r>
            <a:r>
              <a:rPr lang="en-US" sz="1600" dirty="0">
                <a:latin typeface="Times New Roman" panose="02020603050405020304" pitchFamily="18" charset="0"/>
                <a:cs typeface="Times New Roman" panose="02020603050405020304" pitchFamily="18" charset="0"/>
              </a:rPr>
              <a:t> Used for efficient communication between frontend and backend components through client-server interaction.</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Git, GitHub &amp; Postman:</a:t>
            </a:r>
            <a:r>
              <a:rPr lang="en-US" sz="1600" dirty="0">
                <a:latin typeface="Times New Roman" panose="02020603050405020304" pitchFamily="18" charset="0"/>
                <a:cs typeface="Times New Roman" panose="02020603050405020304" pitchFamily="18" charset="0"/>
              </a:rPr>
              <a:t> Used for version control, project collaboration, and API testing to improve reliability and development efficiency.</a:t>
            </a:r>
          </a:p>
          <a:p>
            <a:endParaRPr lang="en-US" sz="1600" dirty="0">
              <a:latin typeface="Times New Roman" panose="02020603050405020304" pitchFamily="18" charset="0"/>
              <a:cs typeface="Times New Roman" panose="02020603050405020304" pitchFamily="18" charset="0"/>
            </a:endParaRPr>
          </a:p>
          <a:p>
            <a:pPr defTabSz="914400">
              <a:lnSpc>
                <a:spcPct val="100000"/>
              </a:lnSpc>
            </a:pPr>
            <a:endParaRPr lang="en-US" sz="1600" u="none" strike="noStrike" dirty="0">
              <a:solidFill>
                <a:srgbClr val="000000"/>
              </a:solidFill>
              <a:effectLst/>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D518C-5405-EA4C-EA4E-81D0A21C4A1C}"/>
              </a:ext>
            </a:extLst>
          </p:cNvPr>
          <p:cNvSpPr>
            <a:spLocks noGrp="1"/>
          </p:cNvSpPr>
          <p:nvPr>
            <p:ph type="title"/>
          </p:nvPr>
        </p:nvSpPr>
        <p:spPr>
          <a:xfrm>
            <a:off x="322301" y="-121636"/>
            <a:ext cx="8229240" cy="1144800"/>
          </a:xfrm>
        </p:spPr>
        <p:txBody>
          <a:bodyPr/>
          <a:lstStyle/>
          <a:p>
            <a:r>
              <a:rPr lang="en-US" sz="1800" b="1" dirty="0">
                <a:latin typeface="Times New Roman" panose="02020603050405020304" pitchFamily="18" charset="0"/>
                <a:cs typeface="Times New Roman" panose="02020603050405020304" pitchFamily="18" charset="0"/>
              </a:rPr>
              <a:t>VISUAL REPRESENTATION</a:t>
            </a:r>
          </a:p>
        </p:txBody>
      </p:sp>
      <p:pic>
        <p:nvPicPr>
          <p:cNvPr id="5" name="Picture 4">
            <a:extLst>
              <a:ext uri="{FF2B5EF4-FFF2-40B4-BE49-F238E27FC236}">
                <a16:creationId xmlns:a16="http://schemas.microsoft.com/office/drawing/2014/main" id="{8EB82B4B-55FF-99D5-0496-0799F181F9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1561" y="1393910"/>
            <a:ext cx="8740878" cy="4249806"/>
          </a:xfrm>
          <a:prstGeom prst="rect">
            <a:avLst/>
          </a:prstGeom>
        </p:spPr>
      </p:pic>
    </p:spTree>
    <p:extLst>
      <p:ext uri="{BB962C8B-B14F-4D97-AF65-F5344CB8AC3E}">
        <p14:creationId xmlns:p14="http://schemas.microsoft.com/office/powerpoint/2010/main" val="154093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83E2E-7E4B-7C92-8FE3-EFAD93411EF6}"/>
              </a:ext>
            </a:extLst>
          </p:cNvPr>
          <p:cNvSpPr>
            <a:spLocks noGrp="1"/>
          </p:cNvSpPr>
          <p:nvPr>
            <p:ph type="title"/>
          </p:nvPr>
        </p:nvSpPr>
        <p:spPr>
          <a:xfrm>
            <a:off x="249248" y="0"/>
            <a:ext cx="5485680" cy="913680"/>
          </a:xfrm>
        </p:spPr>
        <p:txBody>
          <a:bodyPr/>
          <a:lstStyle/>
          <a:p>
            <a:r>
              <a:rPr lang="en-US" sz="1800" b="1" dirty="0">
                <a:latin typeface="Times New Roman" panose="02020603050405020304" pitchFamily="18" charset="0"/>
                <a:cs typeface="Times New Roman" panose="02020603050405020304" pitchFamily="18" charset="0"/>
              </a:rPr>
              <a:t>VISUAL REPRESENTATION</a:t>
            </a:r>
            <a:endParaRPr lang="en-US" sz="1800" dirty="0"/>
          </a:p>
        </p:txBody>
      </p:sp>
      <p:pic>
        <p:nvPicPr>
          <p:cNvPr id="6" name="Picture 5">
            <a:extLst>
              <a:ext uri="{FF2B5EF4-FFF2-40B4-BE49-F238E27FC236}">
                <a16:creationId xmlns:a16="http://schemas.microsoft.com/office/drawing/2014/main" id="{29A399F8-3D40-96DB-655B-CBA0BDDEA38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05781" y="913680"/>
            <a:ext cx="4670322" cy="5536281"/>
          </a:xfrm>
          <a:prstGeom prst="rect">
            <a:avLst/>
          </a:prstGeom>
        </p:spPr>
      </p:pic>
    </p:spTree>
    <p:extLst>
      <p:ext uri="{BB962C8B-B14F-4D97-AF65-F5344CB8AC3E}">
        <p14:creationId xmlns:p14="http://schemas.microsoft.com/office/powerpoint/2010/main" val="815270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AD9A-03DA-2DB7-16AD-9E55F6C2B369}"/>
              </a:ext>
            </a:extLst>
          </p:cNvPr>
          <p:cNvSpPr>
            <a:spLocks noGrp="1"/>
          </p:cNvSpPr>
          <p:nvPr>
            <p:ph type="title"/>
          </p:nvPr>
        </p:nvSpPr>
        <p:spPr>
          <a:xfrm>
            <a:off x="263898" y="0"/>
            <a:ext cx="5485680" cy="913680"/>
          </a:xfrm>
        </p:spPr>
        <p:txBody>
          <a:bodyPr/>
          <a:lstStyle/>
          <a:p>
            <a:r>
              <a:rPr lang="en-US" sz="1800" b="1" dirty="0">
                <a:latin typeface="Times New Roman" panose="02020603050405020304" pitchFamily="18" charset="0"/>
                <a:cs typeface="Times New Roman" panose="02020603050405020304" pitchFamily="18" charset="0"/>
              </a:rPr>
              <a:t>VISUAL REPRESENTATION</a:t>
            </a:r>
            <a:endParaRPr lang="en-US" sz="1800" dirty="0"/>
          </a:p>
        </p:txBody>
      </p:sp>
      <p:pic>
        <p:nvPicPr>
          <p:cNvPr id="8" name="Picture 7">
            <a:extLst>
              <a:ext uri="{FF2B5EF4-FFF2-40B4-BE49-F238E27FC236}">
                <a16:creationId xmlns:a16="http://schemas.microsoft.com/office/drawing/2014/main" id="{E7007499-3471-DE00-15A4-E5BFC78856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63625" y="1457955"/>
            <a:ext cx="6367589" cy="4418954"/>
          </a:xfrm>
          <a:prstGeom prst="rect">
            <a:avLst/>
          </a:prstGeom>
        </p:spPr>
      </p:pic>
    </p:spTree>
    <p:extLst>
      <p:ext uri="{BB962C8B-B14F-4D97-AF65-F5344CB8AC3E}">
        <p14:creationId xmlns:p14="http://schemas.microsoft.com/office/powerpoint/2010/main" val="194785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255786" y="27432"/>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Future Scope</a:t>
            </a:r>
            <a:endParaRPr lang="en-US" sz="2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5" name="TextBox 3"/>
          <p:cNvSpPr/>
          <p:nvPr/>
        </p:nvSpPr>
        <p:spPr>
          <a:xfrm>
            <a:off x="255786" y="913680"/>
            <a:ext cx="7898400" cy="367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tabLst>
                <a:tab pos="457200" algn="l"/>
              </a:tabLst>
            </a:pPr>
            <a:endParaRPr lang="en-US" sz="1800" b="0" u="none" strike="noStrike" dirty="0">
              <a:solidFill>
                <a:srgbClr val="000000"/>
              </a:solidFill>
              <a:effectLst/>
              <a:uFillTx/>
              <a:latin typeface="Arial"/>
            </a:endParaRPr>
          </a:p>
        </p:txBody>
      </p:sp>
      <p:sp>
        <p:nvSpPr>
          <p:cNvPr id="6" name="Rectangle 5">
            <a:extLst>
              <a:ext uri="{FF2B5EF4-FFF2-40B4-BE49-F238E27FC236}">
                <a16:creationId xmlns:a16="http://schemas.microsoft.com/office/drawing/2014/main" id="{68FC2BB2-4275-5F22-9FD3-F1F93AE5B050}"/>
              </a:ext>
            </a:extLst>
          </p:cNvPr>
          <p:cNvSpPr>
            <a:spLocks noChangeArrowheads="1"/>
          </p:cNvSpPr>
          <p:nvPr/>
        </p:nvSpPr>
        <p:spPr bwMode="auto">
          <a:xfrm rot="10800000" flipV="1">
            <a:off x="320040" y="1389229"/>
            <a:ext cx="8494776"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AI-Based Skill Recommendations:</a:t>
            </a:r>
            <a:r>
              <a:rPr lang="en-US" sz="1600" dirty="0">
                <a:latin typeface="Times New Roman" panose="02020603050405020304" pitchFamily="18" charset="0"/>
                <a:cs typeface="Times New Roman" panose="02020603050405020304" pitchFamily="18" charset="0"/>
              </a:rPr>
              <a:t> Implement AI algorithms to recommend relevant skills and suitable learning partners based on user interests, learning history, and activity patterns.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Mobile Application Development:</a:t>
            </a:r>
            <a:r>
              <a:rPr lang="en-US" sz="1600" dirty="0">
                <a:latin typeface="Times New Roman" panose="02020603050405020304" pitchFamily="18" charset="0"/>
                <a:cs typeface="Times New Roman" panose="02020603050405020304" pitchFamily="18" charset="0"/>
              </a:rPr>
              <a:t> Develop Android and iOS applications to improve accessibility and allow users to learn and teach skills anytime and anywhere.</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Real-Time Chat and Video Sessions:</a:t>
            </a:r>
            <a:r>
              <a:rPr lang="en-US" sz="1600" dirty="0">
                <a:latin typeface="Times New Roman" panose="02020603050405020304" pitchFamily="18" charset="0"/>
                <a:cs typeface="Times New Roman" panose="02020603050405020304" pitchFamily="18" charset="0"/>
              </a:rPr>
              <a:t> Integrate chat and video calling functionality to enable direct communication and live learning sessions between users.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Integration with Learning Platforms:</a:t>
            </a:r>
            <a:r>
              <a:rPr lang="en-US" sz="1600" dirty="0">
                <a:latin typeface="Times New Roman" panose="02020603050405020304" pitchFamily="18" charset="0"/>
                <a:cs typeface="Times New Roman" panose="02020603050405020304" pitchFamily="18" charset="0"/>
              </a:rPr>
              <a:t> Connect with platforms like YouTube, Coursera, or NPTEL to provide additional learning resources within the application.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Skill Verification and Certification:</a:t>
            </a:r>
            <a:r>
              <a:rPr lang="en-US" sz="1600" dirty="0">
                <a:latin typeface="Times New Roman" panose="02020603050405020304" pitchFamily="18" charset="0"/>
                <a:cs typeface="Times New Roman" panose="02020603050405020304" pitchFamily="18" charset="0"/>
              </a:rPr>
              <a:t> Introduce certificates or verification mechanisms to validate completed learning activities and enhance user credibility.</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Community and Group Learning:</a:t>
            </a:r>
            <a:r>
              <a:rPr lang="en-US" sz="1600" dirty="0">
                <a:latin typeface="Times New Roman" panose="02020603050405020304" pitchFamily="18" charset="0"/>
                <a:cs typeface="Times New Roman" panose="02020603050405020304" pitchFamily="18" charset="0"/>
              </a:rPr>
              <a:t> Enable group learning sessions, discussion forums, and collaborative communities for better peer interaction.</a:t>
            </a:r>
          </a:p>
          <a:p>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393192" y="0"/>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References</a:t>
            </a:r>
            <a:endParaRPr lang="en-US" sz="2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246" name="TextBox 3"/>
          <p:cNvSpPr/>
          <p:nvPr/>
        </p:nvSpPr>
        <p:spPr>
          <a:xfrm>
            <a:off x="236160" y="1155666"/>
            <a:ext cx="8907840" cy="5500052"/>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Node.js (Official Documentation): </a:t>
            </a:r>
            <a:r>
              <a:rPr lang="en-IN" sz="1600" dirty="0" err="1">
                <a:latin typeface="Times New Roman" panose="02020603050405020304" pitchFamily="18" charset="0"/>
                <a:cs typeface="Times New Roman" panose="02020603050405020304" pitchFamily="18" charset="0"/>
              </a:rPr>
              <a:t>OpenJS</a:t>
            </a:r>
            <a:r>
              <a:rPr lang="en-IN" sz="1600" dirty="0">
                <a:latin typeface="Times New Roman" panose="02020603050405020304" pitchFamily="18" charset="0"/>
                <a:cs typeface="Times New Roman" panose="02020603050405020304" pitchFamily="18" charset="0"/>
              </a:rPr>
              <a:t> Foundation. </a:t>
            </a:r>
            <a:r>
              <a:rPr lang="en-IN" sz="1600" i="1" dirty="0">
                <a:latin typeface="Times New Roman" panose="02020603050405020304" pitchFamily="18" charset="0"/>
                <a:cs typeface="Times New Roman" panose="02020603050405020304" pitchFamily="18" charset="0"/>
              </a:rPr>
              <a:t>Node.js – JavaScript Runtime Environment.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2"/>
              </a:rPr>
              <a:t>https://nodejs.org</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Express.js (Official Documentation): </a:t>
            </a:r>
            <a:r>
              <a:rPr lang="en-IN" sz="1600" dirty="0" err="1">
                <a:latin typeface="Times New Roman" panose="02020603050405020304" pitchFamily="18" charset="0"/>
                <a:cs typeface="Times New Roman" panose="02020603050405020304" pitchFamily="18" charset="0"/>
              </a:rPr>
              <a:t>OpenJS</a:t>
            </a:r>
            <a:r>
              <a:rPr lang="en-IN" sz="1600" dirty="0">
                <a:latin typeface="Times New Roman" panose="02020603050405020304" pitchFamily="18" charset="0"/>
                <a:cs typeface="Times New Roman" panose="02020603050405020304" pitchFamily="18" charset="0"/>
              </a:rPr>
              <a:t> Foundation. </a:t>
            </a:r>
            <a:r>
              <a:rPr lang="en-IN" sz="1600" i="1" dirty="0">
                <a:latin typeface="Times New Roman" panose="02020603050405020304" pitchFamily="18" charset="0"/>
                <a:cs typeface="Times New Roman" panose="02020603050405020304" pitchFamily="18" charset="0"/>
              </a:rPr>
              <a:t>Express – Fast, Unopinionated Web Framework for Node.js.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3"/>
              </a:rPr>
              <a:t>https://expressjs.com</a:t>
            </a:r>
            <a:r>
              <a:rPr lang="en-IN" sz="1600"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EJS (Embedded JavaScript Templates):</a:t>
            </a:r>
            <a:r>
              <a:rPr lang="en-IN" sz="1600" dirty="0">
                <a:latin typeface="Times New Roman" panose="02020603050405020304" pitchFamily="18" charset="0"/>
                <a:cs typeface="Times New Roman" panose="02020603050405020304" pitchFamily="18" charset="0"/>
              </a:rPr>
              <a:t> EJS Team. </a:t>
            </a:r>
            <a:r>
              <a:rPr lang="en-IN" sz="1600" i="1" dirty="0">
                <a:latin typeface="Times New Roman" panose="02020603050405020304" pitchFamily="18" charset="0"/>
                <a:cs typeface="Times New Roman" panose="02020603050405020304" pitchFamily="18" charset="0"/>
              </a:rPr>
              <a:t>EJS – Embedded JavaScript Templating.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4"/>
              </a:rPr>
              <a:t>https://ejs.co</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MongoDB Atlas (Official Documentation): </a:t>
            </a:r>
            <a:r>
              <a:rPr lang="en-IN" sz="1600" dirty="0">
                <a:latin typeface="Times New Roman" panose="02020603050405020304" pitchFamily="18" charset="0"/>
                <a:cs typeface="Times New Roman" panose="02020603050405020304" pitchFamily="18" charset="0"/>
              </a:rPr>
              <a:t>MongoDB Inc. </a:t>
            </a:r>
            <a:r>
              <a:rPr lang="en-IN" sz="1600" i="1" dirty="0">
                <a:latin typeface="Times New Roman" panose="02020603050405020304" pitchFamily="18" charset="0"/>
                <a:cs typeface="Times New Roman" panose="02020603050405020304" pitchFamily="18" charset="0"/>
              </a:rPr>
              <a:t>MongoDB Atlas – Cloud Database Service.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5"/>
              </a:rPr>
              <a:t>https://www.mongodb.com/atlas</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Mongoose (ODM Library): </a:t>
            </a:r>
            <a:r>
              <a:rPr lang="en-IN" sz="1600" dirty="0">
                <a:latin typeface="Times New Roman" panose="02020603050405020304" pitchFamily="18" charset="0"/>
                <a:cs typeface="Times New Roman" panose="02020603050405020304" pitchFamily="18" charset="0"/>
              </a:rPr>
              <a:t>Mongoose Team. </a:t>
            </a:r>
            <a:r>
              <a:rPr lang="en-IN" sz="1600" i="1" dirty="0">
                <a:latin typeface="Times New Roman" panose="02020603050405020304" pitchFamily="18" charset="0"/>
                <a:cs typeface="Times New Roman" panose="02020603050405020304" pitchFamily="18" charset="0"/>
              </a:rPr>
              <a:t>Mongoose – MongoDB Object </a:t>
            </a:r>
            <a:r>
              <a:rPr lang="en-IN" sz="1600" i="1" dirty="0" err="1">
                <a:latin typeface="Times New Roman" panose="02020603050405020304" pitchFamily="18" charset="0"/>
                <a:cs typeface="Times New Roman" panose="02020603050405020304" pitchFamily="18" charset="0"/>
              </a:rPr>
              <a:t>Modeling</a:t>
            </a:r>
            <a:r>
              <a:rPr lang="en-IN" sz="1600" i="1" dirty="0">
                <a:latin typeface="Times New Roman" panose="02020603050405020304" pitchFamily="18" charset="0"/>
                <a:cs typeface="Times New Roman" panose="02020603050405020304" pitchFamily="18" charset="0"/>
              </a:rPr>
              <a:t> for Node.js.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6"/>
              </a:rPr>
              <a:t>https://mongoosejs.com</a:t>
            </a:r>
            <a:r>
              <a:rPr lang="en-IN" sz="1600"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JWT (JSON Web Token Documentation):</a:t>
            </a:r>
            <a:r>
              <a:rPr lang="en-IN" sz="1600" dirty="0">
                <a:latin typeface="Times New Roman" panose="02020603050405020304" pitchFamily="18" charset="0"/>
                <a:cs typeface="Times New Roman" panose="02020603050405020304" pitchFamily="18" charset="0"/>
              </a:rPr>
              <a:t> Auth0. </a:t>
            </a:r>
            <a:r>
              <a:rPr lang="en-IN" sz="1600" i="1" dirty="0">
                <a:latin typeface="Times New Roman" panose="02020603050405020304" pitchFamily="18" charset="0"/>
                <a:cs typeface="Times New Roman" panose="02020603050405020304" pitchFamily="18" charset="0"/>
              </a:rPr>
              <a:t>JSON Web Tokens Introduction and Authentication Guide.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hlinkClick r:id="rId7"/>
              </a:rPr>
              <a:t>https://jwt.io</a:t>
            </a:r>
            <a:endParaRPr lang="en-IN" sz="1600" dirty="0">
              <a:latin typeface="Times New Roman" panose="02020603050405020304" pitchFamily="18" charset="0"/>
              <a:cs typeface="Times New Roman" panose="02020603050405020304" pitchFamily="18" charset="0"/>
            </a:endParaRPr>
          </a:p>
          <a:p>
            <a:pPr defTabSz="914400">
              <a:lnSpc>
                <a:spcPct val="100000"/>
              </a:lnSpc>
              <a:tabLst>
                <a:tab pos="457200" algn="l"/>
              </a:tabLst>
            </a:pPr>
            <a:endParaRPr lang="en-US" sz="1550" b="0" u="none" strike="noStrike" dirty="0">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192024" y="6192"/>
            <a:ext cx="5485680" cy="913680"/>
          </a:xfrm>
          <a:prstGeom prst="rect">
            <a:avLst/>
          </a:prstGeom>
          <a:noFill/>
          <a:ln w="0">
            <a:noFill/>
          </a:ln>
        </p:spPr>
        <p:txBody>
          <a:bodyPr lIns="0" tIns="0" rIns="0" bIns="0" anchor="ctr">
            <a:noAutofit/>
          </a:bodyPr>
          <a:lstStyle/>
          <a:p>
            <a:pPr indent="0" defTabSz="914400">
              <a:lnSpc>
                <a:spcPct val="90000"/>
              </a:lnSpc>
              <a:buNone/>
            </a:pPr>
            <a:r>
              <a:rPr lang="en-IN" sz="2000" b="1" u="none" strike="noStrike" dirty="0">
                <a:solidFill>
                  <a:schemeClr val="dk1"/>
                </a:solidFill>
                <a:effectLst/>
                <a:uFillTx/>
                <a:latin typeface="Times New Roman" panose="02020603050405020304" pitchFamily="18" charset="0"/>
                <a:ea typeface="DejaVu Sans"/>
                <a:cs typeface="Times New Roman" panose="02020603050405020304" pitchFamily="18" charset="0"/>
              </a:rPr>
              <a:t>   Conclusion</a:t>
            </a:r>
            <a:endParaRPr lang="en-US" sz="2000" b="0" u="none" strike="noStrike" dirty="0">
              <a:solidFill>
                <a:schemeClr val="dk1"/>
              </a:solidFill>
              <a:effectLst/>
              <a:uFillTx/>
              <a:latin typeface="Times New Roman" panose="02020603050405020304" pitchFamily="18" charset="0"/>
              <a:cs typeface="Times New Roman" panose="02020603050405020304" pitchFamily="18" charset="0"/>
            </a:endParaRPr>
          </a:p>
        </p:txBody>
      </p:sp>
      <p:sp>
        <p:nvSpPr>
          <p:cNvPr id="244" name="TextBox 3"/>
          <p:cNvSpPr/>
          <p:nvPr/>
        </p:nvSpPr>
        <p:spPr>
          <a:xfrm>
            <a:off x="103500" y="913680"/>
            <a:ext cx="8937000" cy="4276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just"/>
            <a:r>
              <a:rPr lang="en-US" sz="1600" dirty="0" err="1">
                <a:latin typeface="Times New Roman" panose="02020603050405020304" pitchFamily="18" charset="0"/>
                <a:cs typeface="Times New Roman" panose="02020603050405020304" pitchFamily="18" charset="0"/>
              </a:rPr>
              <a:t>TradeLearn</a:t>
            </a:r>
            <a:r>
              <a:rPr lang="en-US" sz="1600" dirty="0">
                <a:latin typeface="Times New Roman" panose="02020603050405020304" pitchFamily="18" charset="0"/>
                <a:cs typeface="Times New Roman" panose="02020603050405020304" pitchFamily="18" charset="0"/>
              </a:rPr>
              <a:t> presents an innovative and practical solution for promoting collaborative learning through a peer-to-peer skill exchange system. By introducing a structured credit-based mechanism, the platform enables users to both teach and learn without relying on traditional monetary transactions. The system transforms knowledge into a valuable asset and creates an ecosystem where users actively contribute while continuously developing new skills. Features such as secure authentication, profile management, skill exchange requests, dashboard tracking, and credit management ensure an organized and user-friendly experience. By removing financial barriers and encouraging participation, </a:t>
            </a:r>
            <a:r>
              <a:rPr lang="en-US" sz="1600" dirty="0" err="1">
                <a:latin typeface="Times New Roman" panose="02020603050405020304" pitchFamily="18" charset="0"/>
                <a:cs typeface="Times New Roman" panose="02020603050405020304" pitchFamily="18" charset="0"/>
              </a:rPr>
              <a:t>TradeLearn</a:t>
            </a:r>
            <a:r>
              <a:rPr lang="en-US" sz="1600" dirty="0">
                <a:latin typeface="Times New Roman" panose="02020603050405020304" pitchFamily="18" charset="0"/>
                <a:cs typeface="Times New Roman" panose="02020603050405020304" pitchFamily="18" charset="0"/>
              </a:rPr>
              <a:t> creates opportunities for accessible and community-driven education.</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Furthermore, </a:t>
            </a:r>
            <a:r>
              <a:rPr lang="en-US" sz="1600" dirty="0" err="1">
                <a:latin typeface="Times New Roman" panose="02020603050405020304" pitchFamily="18" charset="0"/>
                <a:cs typeface="Times New Roman" panose="02020603050405020304" pitchFamily="18" charset="0"/>
              </a:rPr>
              <a:t>TradeLearn</a:t>
            </a:r>
            <a:r>
              <a:rPr lang="en-US" sz="1600" dirty="0">
                <a:latin typeface="Times New Roman" panose="02020603050405020304" pitchFamily="18" charset="0"/>
                <a:cs typeface="Times New Roman" panose="02020603050405020304" pitchFamily="18" charset="0"/>
              </a:rPr>
              <a:t> demonstrates how modern web technologies can be effectively utilized to address real-world educational challenges. The project not only provides a platform for skill development but also promotes interaction, collaboration, and knowledge sharing among users. Its scalable and modular architecture allows future enhancements such as real-time communication, AI-based recommendations, video learning sessions, and mobile accessibility. By combining educational objectives with full-stack development implementation, </a:t>
            </a:r>
            <a:r>
              <a:rPr lang="en-US" sz="1600" dirty="0" err="1">
                <a:latin typeface="Times New Roman" panose="02020603050405020304" pitchFamily="18" charset="0"/>
                <a:cs typeface="Times New Roman" panose="02020603050405020304" pitchFamily="18" charset="0"/>
              </a:rPr>
              <a:t>TradeLearn</a:t>
            </a:r>
            <a:r>
              <a:rPr lang="en-US" sz="1600" dirty="0">
                <a:latin typeface="Times New Roman" panose="02020603050405020304" pitchFamily="18" charset="0"/>
                <a:cs typeface="Times New Roman" panose="02020603050405020304" pitchFamily="18" charset="0"/>
              </a:rPr>
              <a:t> creates a sustainable and flexible learning environment that benefits both learners and contributors. Overall, the platform serves as a valuable initiative for building stronger learning communities and making education more inclusive, interactive, and accessible.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TextShape 1"/>
          <p:cNvSpPr/>
          <p:nvPr/>
        </p:nvSpPr>
        <p:spPr>
          <a:xfrm>
            <a:off x="1297440" y="2821680"/>
            <a:ext cx="6705360" cy="141048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 sz="5400" b="0" u="none" strike="noStrike">
                <a:solidFill>
                  <a:schemeClr val="dk1"/>
                </a:solidFill>
                <a:effectLst/>
                <a:uFillTx/>
                <a:latin typeface="Times New Roman"/>
                <a:ea typeface="DejaVu Sans"/>
              </a:rPr>
              <a:t>Thank You</a:t>
            </a:r>
            <a:endParaRPr lang="en-US" sz="5400" b="0" u="none" strike="noStrike">
              <a:solidFill>
                <a:srgbClr val="000000"/>
              </a:solidFill>
              <a:effectLst/>
              <a:uFillTx/>
              <a:latin typeface="Arial"/>
            </a:endParaRPr>
          </a:p>
        </p:txBody>
      </p:sp>
      <p:sp>
        <p:nvSpPr>
          <p:cNvPr id="248" name="TextShape 3"/>
          <p:cNvSpPr/>
          <p:nvPr/>
        </p:nvSpPr>
        <p:spPr>
          <a:xfrm>
            <a:off x="6553080" y="6356520"/>
            <a:ext cx="2133000" cy="364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pPr>
            <a:fld id="{E19D697E-C37C-41BD-90BD-A4D3EF4BFD80}" type="slidenum">
              <a:rPr lang="en-US" sz="1200" b="1" u="none" strike="noStrike">
                <a:solidFill>
                  <a:srgbClr val="000000"/>
                </a:solidFill>
                <a:effectLst/>
                <a:uFillTx/>
                <a:latin typeface="Calibri"/>
                <a:ea typeface="MS PGothic"/>
              </a:rPr>
              <a:t>13</a:t>
            </a:fld>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36318</TotalTime>
  <Words>1033</Words>
  <Application>Microsoft Office PowerPoint</Application>
  <PresentationFormat>On-screen Show (4:3)</PresentationFormat>
  <Paragraphs>96</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Symbol</vt:lpstr>
      <vt:lpstr>Times New Roman</vt:lpstr>
      <vt:lpstr>Wingdings</vt:lpstr>
      <vt:lpstr>Office Theme</vt:lpstr>
      <vt:lpstr>PowerPoint Presentation</vt:lpstr>
      <vt:lpstr>PowerPoint Presentation</vt:lpstr>
      <vt:lpstr> Software and Hardware Requirement Specification </vt:lpstr>
      <vt:lpstr>Software and Hardware Requirement Specification (1/2)</vt:lpstr>
      <vt:lpstr>   ER Diagram</vt:lpstr>
      <vt:lpstr>TECHNOLOGIES AND TOOLS</vt:lpstr>
      <vt:lpstr>VISUAL REPRESENTATION</vt:lpstr>
      <vt:lpstr>VISUAL REPRESENTATION</vt:lpstr>
      <vt:lpstr>VISUAL REPRESENTATION</vt:lpstr>
      <vt:lpstr>   Future Scope</vt:lpstr>
      <vt:lpstr>  References</vt:lpstr>
      <vt:lpstr>   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ABC</dc:creator>
  <dc:description/>
  <cp:lastModifiedBy>Rajvardhan Tiwari</cp:lastModifiedBy>
  <cp:revision>2333</cp:revision>
  <dcterms:created xsi:type="dcterms:W3CDTF">2010-04-09T07:36:15Z</dcterms:created>
  <dcterms:modified xsi:type="dcterms:W3CDTF">2026-05-19T04:55:23Z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0x010100096F1BF43DDE004485E7A868D137D60A</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13</vt:i4>
  </property>
</Properties>
</file>